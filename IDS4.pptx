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3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06" r:id="rId2"/>
    <p:sldMasterId id="2147483722" r:id="rId3"/>
    <p:sldMasterId id="2147483771" r:id="rId4"/>
  </p:sldMasterIdLst>
  <p:notesMasterIdLst>
    <p:notesMasterId r:id="rId89"/>
  </p:notesMasterIdLst>
  <p:sldIdLst>
    <p:sldId id="352" r:id="rId5"/>
    <p:sldId id="353" r:id="rId6"/>
    <p:sldId id="328" r:id="rId7"/>
    <p:sldId id="260" r:id="rId8"/>
    <p:sldId id="273" r:id="rId9"/>
    <p:sldId id="274" r:id="rId10"/>
    <p:sldId id="263" r:id="rId11"/>
    <p:sldId id="264" r:id="rId12"/>
    <p:sldId id="275" r:id="rId13"/>
    <p:sldId id="283" r:id="rId14"/>
    <p:sldId id="1763" r:id="rId15"/>
    <p:sldId id="266" r:id="rId16"/>
    <p:sldId id="267" r:id="rId17"/>
    <p:sldId id="1762" r:id="rId18"/>
    <p:sldId id="269" r:id="rId19"/>
    <p:sldId id="1764" r:id="rId20"/>
    <p:sldId id="1751" r:id="rId21"/>
    <p:sldId id="1752" r:id="rId22"/>
    <p:sldId id="1753" r:id="rId23"/>
    <p:sldId id="1754" r:id="rId24"/>
    <p:sldId id="1755" r:id="rId25"/>
    <p:sldId id="1756" r:id="rId26"/>
    <p:sldId id="349" r:id="rId27"/>
    <p:sldId id="1758" r:id="rId28"/>
    <p:sldId id="1759" r:id="rId29"/>
    <p:sldId id="1760" r:id="rId30"/>
    <p:sldId id="1761" r:id="rId31"/>
    <p:sldId id="1769" r:id="rId32"/>
    <p:sldId id="1766" r:id="rId33"/>
    <p:sldId id="1767" r:id="rId34"/>
    <p:sldId id="1768" r:id="rId35"/>
    <p:sldId id="287" r:id="rId36"/>
    <p:sldId id="288" r:id="rId37"/>
    <p:sldId id="289" r:id="rId38"/>
    <p:sldId id="1765" r:id="rId39"/>
    <p:sldId id="1770" r:id="rId40"/>
    <p:sldId id="290" r:id="rId41"/>
    <p:sldId id="284" r:id="rId42"/>
    <p:sldId id="292" r:id="rId43"/>
    <p:sldId id="293" r:id="rId44"/>
    <p:sldId id="294" r:id="rId45"/>
    <p:sldId id="295" r:id="rId46"/>
    <p:sldId id="1771" r:id="rId47"/>
    <p:sldId id="285" r:id="rId48"/>
    <p:sldId id="286" r:id="rId49"/>
    <p:sldId id="1748" r:id="rId50"/>
    <p:sldId id="1775" r:id="rId51"/>
    <p:sldId id="304" r:id="rId52"/>
    <p:sldId id="305" r:id="rId53"/>
    <p:sldId id="306" r:id="rId54"/>
    <p:sldId id="307" r:id="rId55"/>
    <p:sldId id="308" r:id="rId56"/>
    <p:sldId id="309" r:id="rId57"/>
    <p:sldId id="1773" r:id="rId58"/>
    <p:sldId id="311" r:id="rId59"/>
    <p:sldId id="312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1774" r:id="rId75"/>
    <p:sldId id="329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1772" r:id="rId84"/>
    <p:sldId id="377" r:id="rId85"/>
    <p:sldId id="379" r:id="rId86"/>
    <p:sldId id="361" r:id="rId87"/>
    <p:sldId id="310" r:id="rId88"/>
  </p:sldIdLst>
  <p:sldSz cx="9144000" cy="6858000" type="screen4x3"/>
  <p:notesSz cx="6858000" cy="93138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7647" autoAdjust="0"/>
    <p:restoredTop sz="94660"/>
  </p:normalViewPr>
  <p:slideViewPr>
    <p:cSldViewPr snapToGrid="0">
      <p:cViewPr varScale="1">
        <p:scale>
          <a:sx n="56" d="100"/>
          <a:sy n="56" d="100"/>
        </p:scale>
        <p:origin x="8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presProps" Target="pres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73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73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8D6584-74A8-4794-AC35-B0CA64E70679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33500" y="1163638"/>
            <a:ext cx="4191000" cy="31432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82296"/>
            <a:ext cx="5486400" cy="36673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6554"/>
            <a:ext cx="2971800" cy="4673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46554"/>
            <a:ext cx="2971800" cy="4673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2E522-BC90-4B79-A844-D8B0E38D7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5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6" name="Google Shape;7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4282B7-2807-4F22-8474-699028824903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8713" y="704850"/>
            <a:ext cx="4629150" cy="3471863"/>
          </a:xfrm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416425"/>
            <a:ext cx="5048250" cy="4179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74100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C974EB-2214-43A1-ABA5-64BE3F206CB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52316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8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9" name="Google Shape;7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9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5" name="Google Shape;7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866B37-DF11-41B1-8A74-4C59E76E77E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3419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FD355A-D145-4F9C-8945-A4A2B427C62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8540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0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1" name="Google Shape;7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640963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1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7" name="Google Shape;7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2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3" name="Google Shape;7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3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9" name="Google Shape;7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9230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4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7" name="Google Shape;7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FD355A-D145-4F9C-8945-A4A2B427C62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4792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19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4" name="Google Shape;80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20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1" name="Google Shape;81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21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7" name="Google Shape;8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22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3" name="Google Shape;82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23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9" name="Google Shape;82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5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2" name="Google Shape;84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26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8" name="Google Shape;84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27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7" name="Google Shape;85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28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4" name="Google Shape;86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29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4" name="Google Shape;87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30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1" name="Google Shape;88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31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8" name="Google Shape;88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2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5" name="Google Shape;89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3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2" name="Google Shape;90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4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9" name="Google Shape;90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35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6" name="Google Shape;91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DB7960-70B5-47FA-AFAC-B2993E50867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11151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37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0" name="Google Shape;93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8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7" name="Google Shape;93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39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4" name="Google Shape;94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40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1" name="Google Shape;95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971158-D10E-44FE-9F76-E8993A2A3A0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034820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EA6BC6-8C50-45C7-878E-D267B4FA77A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09/09/25MK: New example (previous one was from Tan’s book).</a:t>
            </a:r>
          </a:p>
          <a:p>
            <a:endParaRPr lang="en-US" altLang="en-US"/>
          </a:p>
          <a:p>
            <a:r>
              <a:rPr lang="en-US" altLang="en-US"/>
              <a:t>Chapter 3: Statistics Methods</a:t>
            </a:r>
          </a:p>
          <a:p>
            <a:endParaRPr lang="en-US" altLang="en-US"/>
          </a:p>
          <a:p>
            <a:r>
              <a:rPr lang="en-US" altLang="en-US"/>
              <a:t>Co-variance distance</a:t>
            </a:r>
          </a:p>
          <a:p>
            <a:endParaRPr lang="en-US" altLang="en-US"/>
          </a:p>
          <a:p>
            <a:r>
              <a:rPr lang="en-US" altLang="en-US"/>
              <a:t>K-L divergence</a:t>
            </a:r>
          </a:p>
        </p:txBody>
      </p:sp>
    </p:spTree>
    <p:extLst>
      <p:ext uri="{BB962C8B-B14F-4D97-AF65-F5344CB8AC3E}">
        <p14:creationId xmlns:p14="http://schemas.microsoft.com/office/powerpoint/2010/main" val="30004980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49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1" name="Google Shape;107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50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4" name="Google Shape;108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51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6" name="Google Shape;1096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52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0" name="Google Shape;1110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53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2" name="Google Shape;1122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54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3" name="Google Shape;113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55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6" name="Google Shape;1146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56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2" name="Google Shape;1162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57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1" name="Google Shape;1171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59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0" name="Google Shape;1200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60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5" name="Google Shape;1215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9" name="Google Shape;1229;p61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0" name="Google Shape;1230;p61:notes"/>
          <p:cNvSpPr txBox="1">
            <a:spLocks noGrp="1"/>
          </p:cNvSpPr>
          <p:nvPr>
            <p:ph type="sldNum" idx="12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59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62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5" name="Google Shape;1245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63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4" name="Google Shape;1254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64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8" name="Google Shape;1268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65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0" name="Google Shape;1280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66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4" name="Google Shape;1294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67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5" name="Google Shape;1305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68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1" name="Google Shape;1321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69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3" name="Google Shape;1333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5" name="Google Shape;1345;p70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6" name="Google Shape;1346;p70:notes"/>
          <p:cNvSpPr txBox="1">
            <a:spLocks noGrp="1"/>
          </p:cNvSpPr>
          <p:nvPr>
            <p:ph type="sldNum" idx="12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68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71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5" name="Google Shape;1355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72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8" name="Google Shape;1368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73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9" name="Google Shape;1379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74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1" name="Google Shape;1391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140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7" name="Google Shape;1437;p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78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9" name="Google Shape;1449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79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0" name="Google Shape;1460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80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4" name="Google Shape;1474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81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5" name="Google Shape;1485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82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4" name="Google Shape;1494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83:notes"/>
          <p:cNvSpPr txBox="1">
            <a:spLocks noGrp="1"/>
          </p:cNvSpPr>
          <p:nvPr>
            <p:ph type="body" idx="1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8" name="Google Shape;1508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4238" y="406400"/>
            <a:ext cx="1457325" cy="10937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72E522-BC90-4B79-A844-D8B0E38D7FC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2238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0D98-DB92-48E1-B380-3127ED9E581E}" type="datetime1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07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5D23D-3D82-4DE5-9BDA-98EC3587FF43}" type="datetime1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5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A9A58-A874-44B9-952C-9B673B90E5E2}" type="datetime1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00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7" y="1825625"/>
            <a:ext cx="290036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825625"/>
            <a:ext cx="290036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8C79-CEB6-4A9F-8A64-F4A01485A66B}" type="datetime1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083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F9DB-B7AE-4450-B80B-EAAD6D53D0B6}" type="datetime1">
              <a:rPr lang="en-US" smtClean="0"/>
              <a:t>12/11/2023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98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CF178-0794-4C7C-B1E4-90A48159ADAC}" type="datetime1">
              <a:rPr lang="en-US" smtClean="0"/>
              <a:t>12/11/2023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1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4B42B-94D1-478A-A77B-B09DBF9F3DA3}" type="datetime1">
              <a:rPr lang="en-US" smtClean="0"/>
              <a:t>12/11/2023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99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62E0A-1F77-40CC-A28B-CF4D80BB2AF5}" type="datetime1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81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F1E5B-B60E-4A85-9390-C3D9B386932E}" type="datetime1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6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D651F-422B-465F-8C9F-5775590107D3}" type="datetime1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37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2196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01E76-D35C-4E3B-9B13-84B5217CF8A1}" type="datetime1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944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1"/>
          <p:cNvGrpSpPr>
            <a:grpSpLocks/>
          </p:cNvGrpSpPr>
          <p:nvPr userDrawn="1"/>
        </p:nvGrpSpPr>
        <p:grpSpPr bwMode="auto">
          <a:xfrm>
            <a:off x="-76200" y="5257801"/>
            <a:ext cx="2209800" cy="651821"/>
            <a:chOff x="76200" y="2209800"/>
            <a:chExt cx="2209800" cy="651821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42704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175" b="1" spc="-113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BITS</a:t>
              </a:r>
              <a:r>
                <a:rPr lang="en-US" sz="2175" spc="-113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5413"/>
              <a:ext cx="1905000" cy="19620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675" spc="-113" dirty="0">
                  <a:solidFill>
                    <a:srgbClr val="FFFFFF"/>
                  </a:solidFill>
                  <a:latin typeface="Arial"/>
                  <a:ea typeface="+mn-ea"/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355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grpSp>
        <p:nvGrpSpPr>
          <p:cNvPr id="9" name="Group 11"/>
          <p:cNvGrpSpPr>
            <a:grpSpLocks/>
          </p:cNvGrpSpPr>
          <p:nvPr userDrawn="1"/>
        </p:nvGrpSpPr>
        <p:grpSpPr bwMode="auto">
          <a:xfrm>
            <a:off x="6858000" y="762001"/>
            <a:ext cx="2209800" cy="651821"/>
            <a:chOff x="76200" y="2209800"/>
            <a:chExt cx="2209800" cy="651821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76200" y="2209800"/>
              <a:ext cx="2209800" cy="42704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175" b="1" spc="-113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BITS</a:t>
              </a:r>
              <a:r>
                <a:rPr lang="en-US" sz="2175" spc="-113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 Pilani</a:t>
              </a: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228600" y="2665413"/>
              <a:ext cx="1905000" cy="19620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675" spc="-113" dirty="0">
                  <a:solidFill>
                    <a:srgbClr val="FFFFFF"/>
                  </a:solidFill>
                  <a:latin typeface="Arial"/>
                  <a:ea typeface="+mn-ea"/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45842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2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BC38BE9-18F8-4F1D-9F5C-3ED236AFAE48}" type="datetime1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1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256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0" y="3962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80A1083-1268-4A42-B7F5-4F6EE6F4CD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182214"/>
      </p:ext>
    </p:extLst>
  </p:cSld>
  <p:clrMapOvr>
    <a:masterClrMapping/>
  </p:clrMapOvr>
  <p:transition>
    <p:zo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5D5C0945-3C12-41E7-B090-1D5BB38CB1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8664807"/>
      </p:ext>
    </p:extLst>
  </p:cSld>
  <p:clrMapOvr>
    <a:masterClrMapping/>
  </p:clrMapOvr>
  <p:transition>
    <p:zo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1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Google Shape;28;p101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29" name="Google Shape;29;p101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101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10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" name="Google Shape;32;p101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101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34" name="Google Shape;34;p10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10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10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" name="Google Shape;37;p101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38" name="Google Shape;38;p10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10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10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" name="Google Shape;41;p101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1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17494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0D98-DB92-48E1-B380-3127ED9E581E}" type="datetime1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809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5D23D-3D82-4DE5-9BDA-98EC3587FF43}" type="datetime1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6816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A9A58-A874-44B9-952C-9B673B90E5E2}" type="datetime1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73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7" y="1825625"/>
            <a:ext cx="290036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825625"/>
            <a:ext cx="290036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8C79-CEB6-4A9F-8A64-F4A01485A66B}" type="datetime1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610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F9DB-B7AE-4450-B80B-EAAD6D53D0B6}" type="datetime1">
              <a:rPr lang="en-US" smtClean="0"/>
              <a:t>12/11/2023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341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CF178-0794-4C7C-B1E4-90A48159ADAC}" type="datetime1">
              <a:rPr lang="en-US" smtClean="0"/>
              <a:t>12/11/2023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2991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4B42B-94D1-478A-A77B-B09DBF9F3DA3}" type="datetime1">
              <a:rPr lang="en-US" smtClean="0"/>
              <a:t>12/11/2023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3139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62E0A-1F77-40CC-A28B-CF4D80BB2AF5}" type="datetime1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5306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F1E5B-B60E-4A85-9390-C3D9B386932E}" type="datetime1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8671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D651F-422B-465F-8C9F-5775590107D3}" type="datetime1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17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2196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01E76-D35C-4E3B-9B13-84B5217CF8A1}" type="datetime1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749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1"/>
          <p:cNvGrpSpPr>
            <a:grpSpLocks/>
          </p:cNvGrpSpPr>
          <p:nvPr userDrawn="1"/>
        </p:nvGrpSpPr>
        <p:grpSpPr bwMode="auto">
          <a:xfrm>
            <a:off x="-76200" y="5257801"/>
            <a:ext cx="2209800" cy="651821"/>
            <a:chOff x="76200" y="2209800"/>
            <a:chExt cx="2209800" cy="651821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42704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175" b="1" spc="-113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BITS</a:t>
              </a:r>
              <a:r>
                <a:rPr lang="en-US" sz="2175" spc="-113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5413"/>
              <a:ext cx="1905000" cy="19620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675" spc="-113" dirty="0">
                  <a:solidFill>
                    <a:srgbClr val="FFFFFF"/>
                  </a:solidFill>
                  <a:latin typeface="Arial"/>
                  <a:ea typeface="+mn-ea"/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1058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grpSp>
        <p:nvGrpSpPr>
          <p:cNvPr id="9" name="Group 11"/>
          <p:cNvGrpSpPr>
            <a:grpSpLocks/>
          </p:cNvGrpSpPr>
          <p:nvPr userDrawn="1"/>
        </p:nvGrpSpPr>
        <p:grpSpPr bwMode="auto">
          <a:xfrm>
            <a:off x="6858000" y="762001"/>
            <a:ext cx="2209800" cy="651821"/>
            <a:chOff x="76200" y="2209800"/>
            <a:chExt cx="2209800" cy="651821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76200" y="2209800"/>
              <a:ext cx="2209800" cy="42704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175" b="1" spc="-113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BITS</a:t>
              </a:r>
              <a:r>
                <a:rPr lang="en-US" sz="2175" spc="-113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 Pilani</a:t>
              </a: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228600" y="2665413"/>
              <a:ext cx="1905000" cy="19620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675" spc="-113" dirty="0">
                  <a:solidFill>
                    <a:srgbClr val="FFFFFF"/>
                  </a:solidFill>
                  <a:latin typeface="Arial"/>
                  <a:ea typeface="+mn-ea"/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615556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2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BC38BE9-18F8-4F1D-9F5C-3ED236AFAE48}" type="datetime1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1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5134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16979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60EB9-5FBF-4E1A-9216-A25F9898D720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1AFFF-E2F4-402D-873F-F9B1B7CF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465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1"/>
          <p:cNvGrpSpPr>
            <a:grpSpLocks/>
          </p:cNvGrpSpPr>
          <p:nvPr userDrawn="1"/>
        </p:nvGrpSpPr>
        <p:grpSpPr bwMode="auto">
          <a:xfrm>
            <a:off x="-76200" y="5257801"/>
            <a:ext cx="2209800" cy="651821"/>
            <a:chOff x="76200" y="2209800"/>
            <a:chExt cx="2209800" cy="651821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42704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175" b="1" spc="-113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BITS</a:t>
              </a:r>
              <a:r>
                <a:rPr lang="en-US" sz="2175" spc="-113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5413"/>
              <a:ext cx="1905000" cy="19620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675" spc="-113" dirty="0">
                  <a:solidFill>
                    <a:srgbClr val="FFFFFF"/>
                  </a:solidFill>
                  <a:latin typeface="Arial"/>
                  <a:ea typeface="+mn-ea"/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0365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grpSp>
        <p:nvGrpSpPr>
          <p:cNvPr id="9" name="Group 11"/>
          <p:cNvGrpSpPr>
            <a:grpSpLocks/>
          </p:cNvGrpSpPr>
          <p:nvPr userDrawn="1"/>
        </p:nvGrpSpPr>
        <p:grpSpPr bwMode="auto">
          <a:xfrm>
            <a:off x="6858000" y="762001"/>
            <a:ext cx="2209800" cy="651821"/>
            <a:chOff x="76200" y="2209800"/>
            <a:chExt cx="2209800" cy="651821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76200" y="2209800"/>
              <a:ext cx="2209800" cy="42704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175" b="1" spc="-113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BITS</a:t>
              </a:r>
              <a:r>
                <a:rPr lang="en-US" sz="2175" spc="-113" dirty="0">
                  <a:solidFill>
                    <a:prstClr val="white"/>
                  </a:solidFill>
                  <a:latin typeface="Arial"/>
                  <a:ea typeface="+mn-ea"/>
                  <a:cs typeface="Arial"/>
                </a:rPr>
                <a:t> Pilani</a:t>
              </a: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228600" y="2665413"/>
              <a:ext cx="1905000" cy="19620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675" spc="-113" dirty="0">
                  <a:solidFill>
                    <a:srgbClr val="FFFFFF"/>
                  </a:solidFill>
                  <a:latin typeface="Arial"/>
                  <a:ea typeface="+mn-ea"/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079573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676" y="746353"/>
            <a:ext cx="7886700" cy="495300"/>
          </a:xfrm>
        </p:spPr>
        <p:txBody>
          <a:bodyPr>
            <a:normAutofit/>
          </a:bodyPr>
          <a:lstStyle>
            <a:lvl1pPr>
              <a:defRPr sz="30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7010400" y="6492877"/>
            <a:ext cx="2133600" cy="365125"/>
          </a:xfrm>
        </p:spPr>
        <p:txBody>
          <a:bodyPr/>
          <a:lstStyle/>
          <a:p>
            <a:pPr>
              <a:defRPr/>
            </a:pPr>
            <a:fld id="{649AB6AE-DC6C-4C19-AD98-A8BE141DCE93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sz="105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Picture 9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15" name="TextBox 14"/>
          <p:cNvSpPr txBox="1">
            <a:spLocks noChangeArrowheads="1"/>
          </p:cNvSpPr>
          <p:nvPr userDrawn="1"/>
        </p:nvSpPr>
        <p:spPr bwMode="auto">
          <a:xfrm>
            <a:off x="3276600" y="6623449"/>
            <a:ext cx="5867400" cy="219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25" b="1" dirty="0">
                <a:solidFill>
                  <a:srgbClr val="101141"/>
                </a:solidFill>
                <a:ea typeface="+mn-ea"/>
              </a:rPr>
              <a:t>BITS </a:t>
            </a:r>
            <a:r>
              <a:rPr lang="en-US" sz="825" dirty="0" err="1">
                <a:solidFill>
                  <a:srgbClr val="101141"/>
                </a:solidFill>
                <a:ea typeface="+mn-ea"/>
              </a:rPr>
              <a:t>Pilani</a:t>
            </a:r>
            <a:r>
              <a:rPr lang="en-US" sz="825" dirty="0">
                <a:solidFill>
                  <a:srgbClr val="101141"/>
                </a:solidFill>
                <a:ea typeface="+mn-ea"/>
              </a:rPr>
              <a:t>, Deemed to be University under Section 3 of UGC Act, 1956</a:t>
            </a:r>
          </a:p>
        </p:txBody>
      </p:sp>
      <p:grpSp>
        <p:nvGrpSpPr>
          <p:cNvPr id="16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06386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60EB9-5FBF-4E1A-9216-A25F9898D720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1AFFF-E2F4-402D-873F-F9B1B7CF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105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60EB9-5FBF-4E1A-9216-A25F9898D720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1AFFF-E2F4-402D-873F-F9B1B7CF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934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60EB9-5FBF-4E1A-9216-A25F9898D720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1AFFF-E2F4-402D-873F-F9B1B7CF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5815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60EB9-5FBF-4E1A-9216-A25F9898D720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1AFFF-E2F4-402D-873F-F9B1B7CF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3797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60EB9-5FBF-4E1A-9216-A25F9898D720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1AFFF-E2F4-402D-873F-F9B1B7CF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55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60EB9-5FBF-4E1A-9216-A25F9898D720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1AFFF-E2F4-402D-873F-F9B1B7CF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483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60EB9-5FBF-4E1A-9216-A25F9898D720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1AFFF-E2F4-402D-873F-F9B1B7CF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1864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60EB9-5FBF-4E1A-9216-A25F9898D720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1AFFF-E2F4-402D-873F-F9B1B7CF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611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60EB9-5FBF-4E1A-9216-A25F9898D720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1AFFF-E2F4-402D-873F-F9B1B7CF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6566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60EB9-5FBF-4E1A-9216-A25F9898D720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1AFFF-E2F4-402D-873F-F9B1B7CF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4821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0" y="3962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27DF60-8E67-4D51-B788-6381842FE9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8869543"/>
      </p:ext>
    </p:extLst>
  </p:cSld>
  <p:clrMapOvr>
    <a:masterClrMapping/>
  </p:clrMapOvr>
  <p:transition>
    <p:zoom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5EC1F0-819D-423E-952C-4D14151BBD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1853963"/>
      </p:ext>
    </p:extLst>
  </p:cSld>
  <p:clrMapOvr>
    <a:masterClrMapping/>
  </p:clrMapOvr>
  <p:transition>
    <p:zoom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572000" y="1295400"/>
            <a:ext cx="4114800" cy="51816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D1484D-D071-4A56-98E1-E990198824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1027009"/>
      </p:ext>
    </p:extLst>
  </p:cSld>
  <p:clrMapOvr>
    <a:masterClrMapping/>
  </p:clrMapOvr>
  <p:transition>
    <p:zoom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95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304800" y="3962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3962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28C1BA93-39E6-4BE7-94B0-D7BFCFC18BB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52B1F2-62E5-44CE-ACCC-50EF5FE7D0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806924"/>
      </p:ext>
    </p:extLst>
  </p:cSld>
  <p:clrMapOvr>
    <a:masterClrMapping/>
  </p:clrMapOvr>
  <p:transition>
    <p:zoom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4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" name="Google Shape;79;p104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80" name="Google Shape;80;p10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0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10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3" name="Google Shape;83;p104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" name="Google Shape;84;p104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85" name="Google Shape;85;p10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0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0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04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89" name="Google Shape;89;p10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0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0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04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04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701980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5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05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97" name="Google Shape;97;p10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0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0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0" name="Google Shape;100;p105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05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102" name="Google Shape;102;p10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0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0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05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106" name="Google Shape;106;p10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0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0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05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05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190753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Content">
  <p:cSld name="7_Title and Conten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6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p106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114" name="Google Shape;114;p10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0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0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7" name="Google Shape;117;p106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106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119" name="Google Shape;119;p10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0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0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06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123" name="Google Shape;123;p10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0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0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06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06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366364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and Content">
  <p:cSld name="8_Title and Conten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7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p107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131" name="Google Shape;131;p107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07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0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4" name="Google Shape;134;p107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" name="Google Shape;135;p107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136" name="Google Shape;136;p10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0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0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07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140" name="Google Shape;140;p10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0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0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107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07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540580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and Content">
  <p:cSld name="9_Title and Conten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8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" name="Google Shape;147;p108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148" name="Google Shape;148;p10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0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0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1" name="Google Shape;151;p108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108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153" name="Google Shape;153;p10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0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0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108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157" name="Google Shape;157;p10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0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0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08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08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15962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and Content">
  <p:cSld name="10_Title and Conten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9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" name="Google Shape;164;p109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165" name="Google Shape;165;p10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09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09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8" name="Google Shape;168;p109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109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170" name="Google Shape;170;p10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0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0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109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174" name="Google Shape;174;p10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0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0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09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09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547580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and Content">
  <p:cSld name="11_Title and Content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0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p110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182" name="Google Shape;182;p11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1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1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5" name="Google Shape;185;p110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110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187" name="Google Shape;187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" name="Google Shape;190;p110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191" name="Google Shape;191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10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10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072242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and Content">
  <p:cSld name="14_Title and Content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4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9" name="Google Shape;249;p114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250" name="Google Shape;250;p11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1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1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3" name="Google Shape;253;p114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4" name="Google Shape;254;p114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255" name="Google Shape;255;p1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1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" name="Google Shape;258;p114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259" name="Google Shape;259;p1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1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114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114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984520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and Content">
  <p:cSld name="15_Title and Content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1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8" name="Google Shape;198;p111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199" name="Google Shape;199;p111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11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1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2" name="Google Shape;202;p111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111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204" name="Google Shape;204;p11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1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111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208" name="Google Shape;208;p11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1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111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11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30392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Title and Content">
  <p:cSld name="16_Title and Content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5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" name="Google Shape;266;p115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267" name="Google Shape;267;p11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1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1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0" name="Google Shape;270;p115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1" name="Google Shape;271;p115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272" name="Google Shape;272;p11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1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5" name="Google Shape;275;p115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276" name="Google Shape;276;p11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1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115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115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934604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le and Content">
  <p:cSld name="17_Title and Content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6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p116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284" name="Google Shape;284;p11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1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1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7" name="Google Shape;287;p116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8" name="Google Shape;288;p116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289" name="Google Shape;289;p11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1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1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116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293" name="Google Shape;293;p11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1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1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116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116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536281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Title and Content">
  <p:cSld name="18_Title and Content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7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p117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301" name="Google Shape;301;p117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17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1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4" name="Google Shape;304;p117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117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306" name="Google Shape;306;p11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1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9" name="Google Shape;309;p117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310" name="Google Shape;310;p11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1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3" name="Google Shape;313;p117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117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543302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Title and Content">
  <p:cSld name="20_Title and Content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9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4" name="Google Shape;334;p119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335" name="Google Shape;335;p11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19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19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8" name="Google Shape;338;p119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9" name="Google Shape;339;p119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340" name="Google Shape;340;p11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1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1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119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344" name="Google Shape;344;p11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1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1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7" name="Google Shape;347;p119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119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90199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Title and Content">
  <p:cSld name="21_Title and Content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0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1" name="Google Shape;351;p120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352" name="Google Shape;352;p12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2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2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55" name="Google Shape;355;p120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" name="Google Shape;356;p120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357" name="Google Shape;357;p12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2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120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361" name="Google Shape;361;p12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2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120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120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4092637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Title and Content">
  <p:cSld name="22_Title and Conte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21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8" name="Google Shape;368;p121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369" name="Google Shape;369;p121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21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2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2" name="Google Shape;372;p121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121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374" name="Google Shape;374;p12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2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7" name="Google Shape;377;p121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378" name="Google Shape;378;p12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2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" name="Google Shape;381;p121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121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77270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_Title and Content">
  <p:cSld name="23_Title and Content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22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5" name="Google Shape;385;p122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386" name="Google Shape;386;p122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22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22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9" name="Google Shape;389;p122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0" name="Google Shape;390;p122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391" name="Google Shape;391;p12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2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2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4" name="Google Shape;394;p122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395" name="Google Shape;395;p12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12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12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8" name="Google Shape;398;p122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122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64794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Title and Content">
  <p:cSld name="24_Title and Content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23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2" name="Google Shape;402;p123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403" name="Google Shape;403;p12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2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2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6" name="Google Shape;406;p123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" name="Google Shape;407;p123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408" name="Google Shape;408;p12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12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2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" name="Google Shape;411;p123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412" name="Google Shape;412;p12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2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2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5" name="Google Shape;415;p123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123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753890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Title and Content">
  <p:cSld name="25_Title and Content"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24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9" name="Google Shape;419;p124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420" name="Google Shape;420;p12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2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2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23" name="Google Shape;423;p124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4" name="Google Shape;424;p124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425" name="Google Shape;425;p12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2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8" name="Google Shape;428;p124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429" name="Google Shape;429;p12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2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2" name="Google Shape;432;p124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124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083448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Title and Content">
  <p:cSld name="26_Title and Content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25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6" name="Google Shape;436;p125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437" name="Google Shape;437;p12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12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12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40" name="Google Shape;440;p125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1" name="Google Shape;441;p125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442" name="Google Shape;442;p12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12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2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5" name="Google Shape;445;p125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446" name="Google Shape;446;p12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2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12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9" name="Google Shape;449;p125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125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257248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Title and Content">
  <p:cSld name="27_Title and Content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26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3" name="Google Shape;453;p126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454" name="Google Shape;454;p12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12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12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57" name="Google Shape;457;p126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8" name="Google Shape;458;p126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459" name="Google Shape;459;p12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2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2" name="Google Shape;462;p126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463" name="Google Shape;463;p12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2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6" name="Google Shape;466;p126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26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976338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Title and Content">
  <p:cSld name="28_Title and Content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27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0" name="Google Shape;470;p127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471" name="Google Shape;471;p127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27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2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74" name="Google Shape;474;p127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5" name="Google Shape;475;p127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476" name="Google Shape;476;p12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2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2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127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480" name="Google Shape;480;p12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2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2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3" name="Google Shape;483;p127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127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940316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and Content">
  <p:cSld name="29_Title and Content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28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7" name="Google Shape;487;p128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488" name="Google Shape;488;p12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2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2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91" name="Google Shape;491;p128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2" name="Google Shape;492;p128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493" name="Google Shape;493;p12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12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2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6" name="Google Shape;496;p128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497" name="Google Shape;497;p12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2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2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0" name="Google Shape;500;p128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128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211670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_Title and Content">
  <p:cSld name="30_Title and Content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29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4" name="Google Shape;504;p129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505" name="Google Shape;505;p12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129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129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08" name="Google Shape;508;p129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9" name="Google Shape;509;p129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510" name="Google Shape;510;p12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12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2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129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514" name="Google Shape;514;p12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2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2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7" name="Google Shape;517;p129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129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725313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and Content">
  <p:cSld name="32_Title and Content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1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8" name="Google Shape;538;p131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539" name="Google Shape;539;p131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31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3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42" name="Google Shape;542;p131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3" name="Google Shape;543;p131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544" name="Google Shape;544;p13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13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13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7" name="Google Shape;547;p131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548" name="Google Shape;548;p13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3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13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1" name="Google Shape;551;p131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2" name="Google Shape;552;p131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8286463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_Title and Content">
  <p:cSld name="33_Title and Content"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32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5" name="Google Shape;555;p132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556" name="Google Shape;556;p132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32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32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59" name="Google Shape;559;p132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0" name="Google Shape;560;p132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561" name="Google Shape;561;p13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3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3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4" name="Google Shape;564;p132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565" name="Google Shape;565;p13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13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13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8" name="Google Shape;568;p132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132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323513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_Title and Content">
  <p:cSld name="34_Title and Content"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33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2" name="Google Shape;572;p133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573" name="Google Shape;573;p13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13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13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76" name="Google Shape;576;p133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7" name="Google Shape;577;p133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578" name="Google Shape;578;p13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13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13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1" name="Google Shape;581;p133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582" name="Google Shape;582;p13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3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3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5" name="Google Shape;585;p133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6" name="Google Shape;586;p133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56384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5_Title and Content">
  <p:cSld name="35_Title and Content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34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9" name="Google Shape;589;p134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590" name="Google Shape;590;p13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13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13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93" name="Google Shape;593;p134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4" name="Google Shape;594;p134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595" name="Google Shape;595;p13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13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13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8" name="Google Shape;598;p134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599" name="Google Shape;599;p13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3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3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2" name="Google Shape;602;p134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3" name="Google Shape;603;p134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69404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9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9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9"/>
          <p:cNvSpPr txBox="1">
            <a:spLocks noGrp="1"/>
          </p:cNvSpPr>
          <p:nvPr>
            <p:ph type="sldNum" idx="12"/>
          </p:nvPr>
        </p:nvSpPr>
        <p:spPr>
          <a:xfrm>
            <a:off x="3322533" y="6631480"/>
            <a:ext cx="631418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marR="0" lvl="0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0423" marR="0" lvl="1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0423" marR="0" lvl="2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0423" marR="0" lvl="3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0423" marR="0" lvl="4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0423" marR="0" lvl="5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0423" marR="0" lvl="6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0423" marR="0" lvl="7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0423" marR="0" lvl="8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113</a:t>
            </a:r>
          </a:p>
        </p:txBody>
      </p:sp>
    </p:spTree>
    <p:extLst>
      <p:ext uri="{BB962C8B-B14F-4D97-AF65-F5344CB8AC3E}">
        <p14:creationId xmlns:p14="http://schemas.microsoft.com/office/powerpoint/2010/main" val="394579378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0"/>
          <p:cNvSpPr txBox="1">
            <a:spLocks noGrp="1"/>
          </p:cNvSpPr>
          <p:nvPr>
            <p:ph type="title"/>
          </p:nvPr>
        </p:nvSpPr>
        <p:spPr>
          <a:xfrm>
            <a:off x="151136" y="535851"/>
            <a:ext cx="884172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0"/>
          <p:cNvSpPr txBox="1">
            <a:spLocks noGrp="1"/>
          </p:cNvSpPr>
          <p:nvPr>
            <p:ph type="body" idx="1"/>
          </p:nvPr>
        </p:nvSpPr>
        <p:spPr>
          <a:xfrm>
            <a:off x="183928" y="1776609"/>
            <a:ext cx="8776145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0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0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0"/>
          <p:cNvSpPr txBox="1">
            <a:spLocks noGrp="1"/>
          </p:cNvSpPr>
          <p:nvPr>
            <p:ph type="sldNum" idx="12"/>
          </p:nvPr>
        </p:nvSpPr>
        <p:spPr>
          <a:xfrm>
            <a:off x="3322533" y="6631480"/>
            <a:ext cx="631418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marR="0" lvl="0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0423" marR="0" lvl="1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0423" marR="0" lvl="2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0423" marR="0" lvl="3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0423" marR="0" lvl="4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0423" marR="0" lvl="5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0423" marR="0" lvl="6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0423" marR="0" lvl="7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0423" marR="0" lvl="8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113</a:t>
            </a:r>
          </a:p>
        </p:txBody>
      </p:sp>
    </p:spTree>
    <p:extLst>
      <p:ext uri="{BB962C8B-B14F-4D97-AF65-F5344CB8AC3E}">
        <p14:creationId xmlns:p14="http://schemas.microsoft.com/office/powerpoint/2010/main" val="160247413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1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Google Shape;28;p101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29" name="Google Shape;29;p101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101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10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" name="Google Shape;32;p101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101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34" name="Google Shape;34;p10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10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10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" name="Google Shape;37;p101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38" name="Google Shape;38;p10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10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10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" name="Google Shape;41;p101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1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269076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2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" name="Google Shape;45;p102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46" name="Google Shape;46;p102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102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102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9" name="Google Shape;49;p102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102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51" name="Google Shape;51;p10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0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10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" name="Google Shape;54;p102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55" name="Google Shape;55;p10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10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10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" name="Google Shape;58;p102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2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714909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3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" name="Google Shape;62;p103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63" name="Google Shape;63;p10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10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10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6" name="Google Shape;66;p103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" name="Google Shape;67;p103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68" name="Google Shape;68;p10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0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0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" name="Google Shape;71;p103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72" name="Google Shape;72;p10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0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0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" name="Google Shape;75;p103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3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527450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4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" name="Google Shape;79;p104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80" name="Google Shape;80;p10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0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10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3" name="Google Shape;83;p104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" name="Google Shape;84;p104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85" name="Google Shape;85;p10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0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0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04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89" name="Google Shape;89;p10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0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0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04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04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882108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5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05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97" name="Google Shape;97;p10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0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0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0" name="Google Shape;100;p105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05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102" name="Google Shape;102;p10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0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0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05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106" name="Google Shape;106;p10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0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0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05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05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645658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Content">
  <p:cSld name="7_Title and Conten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6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p106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114" name="Google Shape;114;p10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0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0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7" name="Google Shape;117;p106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106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119" name="Google Shape;119;p10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0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0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06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123" name="Google Shape;123;p10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0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0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06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06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342484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and Content">
  <p:cSld name="8_Title and Conten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7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p107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131" name="Google Shape;131;p107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07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0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4" name="Google Shape;134;p107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" name="Google Shape;135;p107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136" name="Google Shape;136;p10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0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0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07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140" name="Google Shape;140;p10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0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0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107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07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143194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and Content">
  <p:cSld name="9_Title and Conten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8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" name="Google Shape;147;p108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148" name="Google Shape;148;p10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0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0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1" name="Google Shape;151;p108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108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153" name="Google Shape;153;p10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0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0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108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157" name="Google Shape;157;p10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0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0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08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08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093902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and Content">
  <p:cSld name="10_Title and Conten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9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" name="Google Shape;164;p109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165" name="Google Shape;165;p10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09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09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8" name="Google Shape;168;p109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109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170" name="Google Shape;170;p10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0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0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109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174" name="Google Shape;174;p10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0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0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09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09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28856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and Content">
  <p:cSld name="11_Title and Content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0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p110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182" name="Google Shape;182;p11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1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1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5" name="Google Shape;185;p110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110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187" name="Google Shape;187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" name="Google Shape;190;p110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191" name="Google Shape;191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10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10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005079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and Content">
  <p:cSld name="15_Title and Content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1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8" name="Google Shape;198;p111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199" name="Google Shape;199;p111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11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1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2" name="Google Shape;202;p111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111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204" name="Google Shape;204;p11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1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111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208" name="Google Shape;208;p11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1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111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11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263291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and Content">
  <p:cSld name="12_Title and Content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2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" name="Google Shape;215;p112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216" name="Google Shape;216;p112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12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12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9" name="Google Shape;219;p112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" name="Google Shape;220;p112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221" name="Google Shape;221;p1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1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112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225" name="Google Shape;225;p1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1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112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12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476283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and Content">
  <p:cSld name="13_Title and Content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3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2" name="Google Shape;232;p113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233" name="Google Shape;233;p11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1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1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6" name="Google Shape;236;p113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113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238" name="Google Shape;238;p1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1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113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242" name="Google Shape;242;p1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1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113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13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950763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and Content">
  <p:cSld name="14_Title and Content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4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9" name="Google Shape;249;p114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250" name="Google Shape;250;p11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1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1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3" name="Google Shape;253;p114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4" name="Google Shape;254;p114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255" name="Google Shape;255;p1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1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" name="Google Shape;258;p114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259" name="Google Shape;259;p1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1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114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114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805519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Title and Content">
  <p:cSld name="16_Title and Content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5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" name="Google Shape;266;p115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267" name="Google Shape;267;p11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1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1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0" name="Google Shape;270;p115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1" name="Google Shape;271;p115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272" name="Google Shape;272;p11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1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5" name="Google Shape;275;p115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276" name="Google Shape;276;p11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1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115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115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910856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le and Content">
  <p:cSld name="17_Title and Content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6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p116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284" name="Google Shape;284;p11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1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1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7" name="Google Shape;287;p116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8" name="Google Shape;288;p116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289" name="Google Shape;289;p11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1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1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116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293" name="Google Shape;293;p11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1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1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116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116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3476395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Title and Content">
  <p:cSld name="18_Title and Content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7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p117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301" name="Google Shape;301;p117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17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1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4" name="Google Shape;304;p117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117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306" name="Google Shape;306;p11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1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9" name="Google Shape;309;p117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310" name="Google Shape;310;p11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1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3" name="Google Shape;313;p117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117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007603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Title and Content">
  <p:cSld name="19_Title and Content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8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" name="Google Shape;317;p118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318" name="Google Shape;318;p11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1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1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1" name="Google Shape;321;p118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118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323" name="Google Shape;323;p11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1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1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118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327" name="Google Shape;327;p11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1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1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0" name="Google Shape;330;p118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118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536826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Title and Content">
  <p:cSld name="20_Title and Content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9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4" name="Google Shape;334;p119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335" name="Google Shape;335;p11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19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19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8" name="Google Shape;338;p119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9" name="Google Shape;339;p119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340" name="Google Shape;340;p11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1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1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119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344" name="Google Shape;344;p11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1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1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7" name="Google Shape;347;p119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119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169541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Title and Content">
  <p:cSld name="21_Title and Content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0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1" name="Google Shape;351;p120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352" name="Google Shape;352;p12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2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2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55" name="Google Shape;355;p120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" name="Google Shape;356;p120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357" name="Google Shape;357;p12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12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120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361" name="Google Shape;361;p12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2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120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120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0399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Title and Content">
  <p:cSld name="22_Title and Conte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21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8" name="Google Shape;368;p121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369" name="Google Shape;369;p121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21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2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2" name="Google Shape;372;p121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121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374" name="Google Shape;374;p12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2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7" name="Google Shape;377;p121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378" name="Google Shape;378;p12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2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" name="Google Shape;381;p121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121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567653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_Title and Content">
  <p:cSld name="23_Title and Content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22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5" name="Google Shape;385;p122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386" name="Google Shape;386;p122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22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22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9" name="Google Shape;389;p122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0" name="Google Shape;390;p122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391" name="Google Shape;391;p12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2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2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4" name="Google Shape;394;p122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395" name="Google Shape;395;p12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12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12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8" name="Google Shape;398;p122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122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403467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Title and Content">
  <p:cSld name="24_Title and Content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23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2" name="Google Shape;402;p123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403" name="Google Shape;403;p12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2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2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6" name="Google Shape;406;p123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7" name="Google Shape;407;p123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408" name="Google Shape;408;p12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12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2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" name="Google Shape;411;p123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412" name="Google Shape;412;p12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2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2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5" name="Google Shape;415;p123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123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819589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Title and Content">
  <p:cSld name="25_Title and Content"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24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9" name="Google Shape;419;p124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420" name="Google Shape;420;p12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2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2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23" name="Google Shape;423;p124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4" name="Google Shape;424;p124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425" name="Google Shape;425;p12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2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8" name="Google Shape;428;p124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429" name="Google Shape;429;p12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2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2" name="Google Shape;432;p124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124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4732680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Title and Content">
  <p:cSld name="26_Title and Content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25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6" name="Google Shape;436;p125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437" name="Google Shape;437;p12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12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12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40" name="Google Shape;440;p125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1" name="Google Shape;441;p125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442" name="Google Shape;442;p12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12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2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5" name="Google Shape;445;p125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446" name="Google Shape;446;p12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2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12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9" name="Google Shape;449;p125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125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081596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Title and Content">
  <p:cSld name="27_Title and Content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26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3" name="Google Shape;453;p126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454" name="Google Shape;454;p12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12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12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57" name="Google Shape;457;p126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8" name="Google Shape;458;p126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459" name="Google Shape;459;p12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2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2" name="Google Shape;462;p126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463" name="Google Shape;463;p12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2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6" name="Google Shape;466;p126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26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917311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Title and Content">
  <p:cSld name="28_Title and Content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27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0" name="Google Shape;470;p127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471" name="Google Shape;471;p127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27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2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74" name="Google Shape;474;p127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5" name="Google Shape;475;p127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476" name="Google Shape;476;p12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2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2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127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480" name="Google Shape;480;p12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2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2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3" name="Google Shape;483;p127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127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735651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and Content">
  <p:cSld name="29_Title and Content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28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7" name="Google Shape;487;p128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488" name="Google Shape;488;p12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2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2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91" name="Google Shape;491;p128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2" name="Google Shape;492;p128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493" name="Google Shape;493;p12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12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2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6" name="Google Shape;496;p128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497" name="Google Shape;497;p12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2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2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0" name="Google Shape;500;p128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128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151400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_Title and Content">
  <p:cSld name="30_Title and Content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29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4" name="Google Shape;504;p129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505" name="Google Shape;505;p129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129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129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08" name="Google Shape;508;p129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9" name="Google Shape;509;p129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510" name="Google Shape;510;p12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12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2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129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514" name="Google Shape;514;p12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2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2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7" name="Google Shape;517;p129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129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130890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_Title and Content">
  <p:cSld name="31_Title and Content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30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1" name="Google Shape;521;p130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522" name="Google Shape;522;p13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3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3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25" name="Google Shape;525;p130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6" name="Google Shape;526;p130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527" name="Google Shape;527;p13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1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13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0" name="Google Shape;530;p130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531" name="Google Shape;531;p13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1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13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4" name="Google Shape;534;p130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5" name="Google Shape;535;p130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782659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and Content">
  <p:cSld name="32_Title and Content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1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8" name="Google Shape;538;p131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539" name="Google Shape;539;p131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31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31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42" name="Google Shape;542;p131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3" name="Google Shape;543;p131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544" name="Google Shape;544;p13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13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13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7" name="Google Shape;547;p131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548" name="Google Shape;548;p13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3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13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1" name="Google Shape;551;p131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2" name="Google Shape;552;p131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768865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_Title and Content">
  <p:cSld name="33_Title and Content"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32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5" name="Google Shape;555;p132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556" name="Google Shape;556;p132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32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32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59" name="Google Shape;559;p132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0" name="Google Shape;560;p132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561" name="Google Shape;561;p13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3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3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4" name="Google Shape;564;p132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565" name="Google Shape;565;p13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13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132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8" name="Google Shape;568;p132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132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247104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_Title and Content">
  <p:cSld name="34_Title and Content"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33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2" name="Google Shape;572;p133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573" name="Google Shape;573;p133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133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133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76" name="Google Shape;576;p133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7" name="Google Shape;577;p133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578" name="Google Shape;578;p13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13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13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1" name="Google Shape;581;p133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582" name="Google Shape;582;p13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3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33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5" name="Google Shape;585;p133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6" name="Google Shape;586;p133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864862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5_Title and Content">
  <p:cSld name="35_Title and Content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34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9" name="Google Shape;589;p134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590" name="Google Shape;590;p134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134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134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93" name="Google Shape;593;p134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4" name="Google Shape;594;p134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595" name="Google Shape;595;p13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13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13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8" name="Google Shape;598;p134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599" name="Google Shape;599;p13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3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34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2" name="Google Shape;602;p134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3" name="Google Shape;603;p134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37199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6_Title and Content">
  <p:cSld name="36_Title and Content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35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6" name="Google Shape;606;p135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607" name="Google Shape;607;p13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35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35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10" name="Google Shape;610;p135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1" name="Google Shape;611;p135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612" name="Google Shape;612;p13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3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3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5" name="Google Shape;615;p135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616" name="Google Shape;616;p13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13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135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9" name="Google Shape;619;p135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135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328423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7_Title and Content">
  <p:cSld name="37_Title and Content"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36"/>
          <p:cNvSpPr txBox="1"/>
          <p:nvPr/>
        </p:nvSpPr>
        <p:spPr>
          <a:xfrm>
            <a:off x="3276599" y="6596063"/>
            <a:ext cx="5867401" cy="27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"/>
              <a:buFont typeface="Arial"/>
              <a:buNone/>
            </a:pPr>
            <a:r>
              <a:rPr lang="en-US" sz="825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825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22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3" name="Google Shape;623;p136"/>
          <p:cNvGrpSpPr/>
          <p:nvPr/>
        </p:nvGrpSpPr>
        <p:grpSpPr>
          <a:xfrm>
            <a:off x="2084387" y="6550026"/>
            <a:ext cx="7059613" cy="49213"/>
            <a:chOff x="2083888" y="6550671"/>
            <a:chExt cx="7060112" cy="48665"/>
          </a:xfrm>
        </p:grpSpPr>
        <p:sp>
          <p:nvSpPr>
            <p:cNvPr id="624" name="Google Shape;624;p136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13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136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27" name="Google Shape;627;p136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1"/>
            <a:ext cx="2193926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8" name="Google Shape;628;p136"/>
          <p:cNvGrpSpPr/>
          <p:nvPr/>
        </p:nvGrpSpPr>
        <p:grpSpPr>
          <a:xfrm>
            <a:off x="2133600" y="6553200"/>
            <a:ext cx="7010401" cy="46038"/>
            <a:chOff x="1905000" y="6553200"/>
            <a:chExt cx="7010400" cy="45719"/>
          </a:xfrm>
        </p:grpSpPr>
        <p:sp>
          <p:nvSpPr>
            <p:cNvPr id="629" name="Google Shape;629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2" name="Google Shape;632;p136"/>
          <p:cNvGrpSpPr/>
          <p:nvPr/>
        </p:nvGrpSpPr>
        <p:grpSpPr>
          <a:xfrm>
            <a:off x="1" y="1295401"/>
            <a:ext cx="7010401" cy="46038"/>
            <a:chOff x="1905000" y="6553200"/>
            <a:chExt cx="7010400" cy="45719"/>
          </a:xfrm>
        </p:grpSpPr>
        <p:sp>
          <p:nvSpPr>
            <p:cNvPr id="633" name="Google Shape;633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2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6" name="Google Shape;636;p136"/>
          <p:cNvSpPr txBox="1">
            <a:spLocks noGrp="1"/>
          </p:cNvSpPr>
          <p:nvPr>
            <p:ph type="body" idx="1"/>
          </p:nvPr>
        </p:nvSpPr>
        <p:spPr>
          <a:xfrm>
            <a:off x="304799" y="1493837"/>
            <a:ext cx="8229600" cy="32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marR="0" lvl="0" indent="-36253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1135"/>
              <a:buFont typeface="Arial"/>
              <a:buNone/>
              <a:defRPr sz="1800">
                <a:latin typeface="Cambria"/>
                <a:ea typeface="Cambria"/>
                <a:cs typeface="Cambria"/>
                <a:sym typeface="Cambria"/>
              </a:defRPr>
            </a:lvl1pPr>
            <a:lvl2pPr marL="1450147" marR="0" lvl="1" indent="-438769" algn="l">
              <a:lnSpc>
                <a:spcPct val="100000"/>
              </a:lnSpc>
              <a:spcBef>
                <a:spcPts val="239"/>
              </a:spcBef>
              <a:spcAft>
                <a:spcPts val="0"/>
              </a:spcAft>
              <a:buSzPts val="757"/>
              <a:buFont typeface="Arial"/>
              <a:buChar char="–"/>
              <a:defRPr sz="1201">
                <a:latin typeface="Cambria"/>
                <a:ea typeface="Cambria"/>
                <a:cs typeface="Cambria"/>
                <a:sym typeface="Cambria"/>
              </a:defRPr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7" name="Google Shape;637;p136"/>
          <p:cNvSpPr txBox="1">
            <a:spLocks noGrp="1"/>
          </p:cNvSpPr>
          <p:nvPr>
            <p:ph type="body" idx="2"/>
          </p:nvPr>
        </p:nvSpPr>
        <p:spPr>
          <a:xfrm>
            <a:off x="304799" y="152401"/>
            <a:ext cx="6324601" cy="1142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6196963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37"/>
          <p:cNvSpPr txBox="1">
            <a:spLocks noGrp="1"/>
          </p:cNvSpPr>
          <p:nvPr>
            <p:ph type="ctrTitle"/>
          </p:nvPr>
        </p:nvSpPr>
        <p:spPr>
          <a:xfrm>
            <a:off x="504169" y="2112744"/>
            <a:ext cx="8135662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0" name="Google Shape;640;p137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1" name="Google Shape;641;p137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2" name="Google Shape;642;p137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3" name="Google Shape;643;p137"/>
          <p:cNvSpPr txBox="1">
            <a:spLocks noGrp="1"/>
          </p:cNvSpPr>
          <p:nvPr>
            <p:ph type="sldNum" idx="12"/>
          </p:nvPr>
        </p:nvSpPr>
        <p:spPr>
          <a:xfrm>
            <a:off x="3322533" y="6631480"/>
            <a:ext cx="631418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marR="0" lvl="0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0423" marR="0" lvl="1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0423" marR="0" lvl="2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0423" marR="0" lvl="3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0423" marR="0" lvl="4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0423" marR="0" lvl="5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0423" marR="0" lvl="6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0423" marR="0" lvl="7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0423" marR="0" lvl="8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113</a:t>
            </a:r>
          </a:p>
        </p:txBody>
      </p:sp>
    </p:spTree>
    <p:extLst>
      <p:ext uri="{BB962C8B-B14F-4D97-AF65-F5344CB8AC3E}">
        <p14:creationId xmlns:p14="http://schemas.microsoft.com/office/powerpoint/2010/main" val="100980501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38"/>
          <p:cNvSpPr txBox="1">
            <a:spLocks noGrp="1"/>
          </p:cNvSpPr>
          <p:nvPr>
            <p:ph type="title"/>
          </p:nvPr>
        </p:nvSpPr>
        <p:spPr>
          <a:xfrm>
            <a:off x="151136" y="535851"/>
            <a:ext cx="884172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6" name="Google Shape;646;p138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7" name="Google Shape;647;p138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8" name="Google Shape;648;p138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9" name="Google Shape;649;p138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0" name="Google Shape;650;p138"/>
          <p:cNvSpPr txBox="1">
            <a:spLocks noGrp="1"/>
          </p:cNvSpPr>
          <p:nvPr>
            <p:ph type="sldNum" idx="12"/>
          </p:nvPr>
        </p:nvSpPr>
        <p:spPr>
          <a:xfrm>
            <a:off x="3322533" y="6631480"/>
            <a:ext cx="631418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marR="0" lvl="0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0423" marR="0" lvl="1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0423" marR="0" lvl="2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0423" marR="0" lvl="3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0423" marR="0" lvl="4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0423" marR="0" lvl="5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0423" marR="0" lvl="6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0423" marR="0" lvl="7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0423" marR="0" lvl="8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113</a:t>
            </a:r>
          </a:p>
        </p:txBody>
      </p:sp>
    </p:spTree>
    <p:extLst>
      <p:ext uri="{BB962C8B-B14F-4D97-AF65-F5344CB8AC3E}">
        <p14:creationId xmlns:p14="http://schemas.microsoft.com/office/powerpoint/2010/main" val="32790938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39"/>
          <p:cNvSpPr txBox="1">
            <a:spLocks noGrp="1"/>
          </p:cNvSpPr>
          <p:nvPr>
            <p:ph type="title"/>
          </p:nvPr>
        </p:nvSpPr>
        <p:spPr>
          <a:xfrm>
            <a:off x="151136" y="535851"/>
            <a:ext cx="884172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3" name="Google Shape;653;p139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4" name="Google Shape;654;p139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5" name="Google Shape;655;p139"/>
          <p:cNvSpPr txBox="1">
            <a:spLocks noGrp="1"/>
          </p:cNvSpPr>
          <p:nvPr>
            <p:ph type="sldNum" idx="12"/>
          </p:nvPr>
        </p:nvSpPr>
        <p:spPr>
          <a:xfrm>
            <a:off x="3322533" y="6631480"/>
            <a:ext cx="631418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marR="0" lvl="0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0423" marR="0" lvl="1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0423" marR="0" lvl="2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0423" marR="0" lvl="3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0423" marR="0" lvl="4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0423" marR="0" lvl="5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0423" marR="0" lvl="6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0423" marR="0" lvl="7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0423" marR="0" lvl="8" indent="0" algn="l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113</a:t>
            </a:r>
          </a:p>
        </p:txBody>
      </p:sp>
    </p:spTree>
    <p:extLst>
      <p:ext uri="{BB962C8B-B14F-4D97-AF65-F5344CB8AC3E}">
        <p14:creationId xmlns:p14="http://schemas.microsoft.com/office/powerpoint/2010/main" val="533951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8.xml"/><Relationship Id="rId39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53.xml"/><Relationship Id="rId34" Type="http://schemas.openxmlformats.org/officeDocument/2006/relationships/slideLayout" Target="../slideLayouts/slideLayout66.xml"/><Relationship Id="rId42" Type="http://schemas.openxmlformats.org/officeDocument/2006/relationships/slideLayout" Target="../slideLayouts/slideLayout74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9" Type="http://schemas.openxmlformats.org/officeDocument/2006/relationships/slideLayout" Target="../slideLayouts/slideLayout61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32" Type="http://schemas.openxmlformats.org/officeDocument/2006/relationships/slideLayout" Target="../slideLayouts/slideLayout64.xml"/><Relationship Id="rId37" Type="http://schemas.openxmlformats.org/officeDocument/2006/relationships/slideLayout" Target="../slideLayouts/slideLayout69.xml"/><Relationship Id="rId40" Type="http://schemas.openxmlformats.org/officeDocument/2006/relationships/slideLayout" Target="../slideLayouts/slideLayout72.xml"/><Relationship Id="rId45" Type="http://schemas.openxmlformats.org/officeDocument/2006/relationships/slideLayout" Target="../slideLayouts/slideLayout77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60.xml"/><Relationship Id="rId36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31" Type="http://schemas.openxmlformats.org/officeDocument/2006/relationships/slideLayout" Target="../slideLayouts/slideLayout63.xml"/><Relationship Id="rId44" Type="http://schemas.openxmlformats.org/officeDocument/2006/relationships/slideLayout" Target="../slideLayouts/slideLayout76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9.xml"/><Relationship Id="rId30" Type="http://schemas.openxmlformats.org/officeDocument/2006/relationships/slideLayout" Target="../slideLayouts/slideLayout62.xml"/><Relationship Id="rId35" Type="http://schemas.openxmlformats.org/officeDocument/2006/relationships/slideLayout" Target="../slideLayouts/slideLayout67.xml"/><Relationship Id="rId43" Type="http://schemas.openxmlformats.org/officeDocument/2006/relationships/slideLayout" Target="../slideLayouts/slideLayout75.xml"/><Relationship Id="rId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7.xml"/><Relationship Id="rId33" Type="http://schemas.openxmlformats.org/officeDocument/2006/relationships/slideLayout" Target="../slideLayouts/slideLayout65.xml"/><Relationship Id="rId38" Type="http://schemas.openxmlformats.org/officeDocument/2006/relationships/slideLayout" Target="../slideLayouts/slideLayout70.xml"/><Relationship Id="rId46" Type="http://schemas.openxmlformats.org/officeDocument/2006/relationships/theme" Target="../theme/theme3.xml"/><Relationship Id="rId20" Type="http://schemas.openxmlformats.org/officeDocument/2006/relationships/slideLayout" Target="../slideLayouts/slideLayout52.xml"/><Relationship Id="rId41" Type="http://schemas.openxmlformats.org/officeDocument/2006/relationships/slideLayout" Target="../slideLayouts/slideLayout7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0.xml"/><Relationship Id="rId18" Type="http://schemas.openxmlformats.org/officeDocument/2006/relationships/slideLayout" Target="../slideLayouts/slideLayout95.xml"/><Relationship Id="rId26" Type="http://schemas.openxmlformats.org/officeDocument/2006/relationships/slideLayout" Target="../slideLayouts/slideLayout103.xml"/><Relationship Id="rId39" Type="http://schemas.openxmlformats.org/officeDocument/2006/relationships/slideLayout" Target="../slideLayouts/slideLayout116.xml"/><Relationship Id="rId21" Type="http://schemas.openxmlformats.org/officeDocument/2006/relationships/slideLayout" Target="../slideLayouts/slideLayout98.xml"/><Relationship Id="rId34" Type="http://schemas.openxmlformats.org/officeDocument/2006/relationships/slideLayout" Target="../slideLayouts/slideLayout111.xml"/><Relationship Id="rId42" Type="http://schemas.openxmlformats.org/officeDocument/2006/relationships/theme" Target="../theme/theme4.xml"/><Relationship Id="rId7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93.xml"/><Relationship Id="rId20" Type="http://schemas.openxmlformats.org/officeDocument/2006/relationships/slideLayout" Target="../slideLayouts/slideLayout97.xml"/><Relationship Id="rId29" Type="http://schemas.openxmlformats.org/officeDocument/2006/relationships/slideLayout" Target="../slideLayouts/slideLayout106.xml"/><Relationship Id="rId41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24" Type="http://schemas.openxmlformats.org/officeDocument/2006/relationships/slideLayout" Target="../slideLayouts/slideLayout101.xml"/><Relationship Id="rId32" Type="http://schemas.openxmlformats.org/officeDocument/2006/relationships/slideLayout" Target="../slideLayouts/slideLayout109.xml"/><Relationship Id="rId37" Type="http://schemas.openxmlformats.org/officeDocument/2006/relationships/slideLayout" Target="../slideLayouts/slideLayout114.xml"/><Relationship Id="rId40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92.xml"/><Relationship Id="rId23" Type="http://schemas.openxmlformats.org/officeDocument/2006/relationships/slideLayout" Target="../slideLayouts/slideLayout100.xml"/><Relationship Id="rId28" Type="http://schemas.openxmlformats.org/officeDocument/2006/relationships/slideLayout" Target="../slideLayouts/slideLayout105.xml"/><Relationship Id="rId36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87.xml"/><Relationship Id="rId19" Type="http://schemas.openxmlformats.org/officeDocument/2006/relationships/slideLayout" Target="../slideLayouts/slideLayout96.xml"/><Relationship Id="rId31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slideLayout" Target="../slideLayouts/slideLayout91.xml"/><Relationship Id="rId22" Type="http://schemas.openxmlformats.org/officeDocument/2006/relationships/slideLayout" Target="../slideLayouts/slideLayout99.xml"/><Relationship Id="rId27" Type="http://schemas.openxmlformats.org/officeDocument/2006/relationships/slideLayout" Target="../slideLayouts/slideLayout104.xml"/><Relationship Id="rId30" Type="http://schemas.openxmlformats.org/officeDocument/2006/relationships/slideLayout" Target="../slideLayouts/slideLayout107.xml"/><Relationship Id="rId35" Type="http://schemas.openxmlformats.org/officeDocument/2006/relationships/slideLayout" Target="../slideLayouts/slideLayout112.xml"/><Relationship Id="rId43" Type="http://schemas.openxmlformats.org/officeDocument/2006/relationships/image" Target="../media/image6.png"/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9.xml"/><Relationship Id="rId17" Type="http://schemas.openxmlformats.org/officeDocument/2006/relationships/slideLayout" Target="../slideLayouts/slideLayout94.xml"/><Relationship Id="rId25" Type="http://schemas.openxmlformats.org/officeDocument/2006/relationships/slideLayout" Target="../slideLayouts/slideLayout102.xml"/><Relationship Id="rId33" Type="http://schemas.openxmlformats.org/officeDocument/2006/relationships/slideLayout" Target="../slideLayouts/slideLayout110.xml"/><Relationship Id="rId38" Type="http://schemas.openxmlformats.org/officeDocument/2006/relationships/slideLayout" Target="../slideLayouts/slideLayout1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44004"/>
            <a:ext cx="2057400" cy="213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F751B-F43C-4ABF-94B8-46380872C69F}" type="datetime1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6120" y="6583680"/>
            <a:ext cx="2057400" cy="213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20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704" r:id="rId15"/>
    <p:sldLayoutId id="2147483705" r:id="rId16"/>
    <p:sldLayoutId id="214748374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44004"/>
            <a:ext cx="2057400" cy="213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F751B-F43C-4ABF-94B8-46380872C69F}" type="datetime1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6120" y="6583680"/>
            <a:ext cx="2057400" cy="213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740DE-8293-487D-9531-1FF883CE0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9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60EB9-5FBF-4E1A-9216-A25F9898D720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1AFFF-E2F4-402D-873F-F9B1B7CF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016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2" r:id="rId19"/>
    <p:sldLayoutId id="2147483743" r:id="rId20"/>
    <p:sldLayoutId id="2147483744" r:id="rId21"/>
    <p:sldLayoutId id="2147483745" r:id="rId22"/>
    <p:sldLayoutId id="2147483746" r:id="rId23"/>
    <p:sldLayoutId id="2147483747" r:id="rId24"/>
    <p:sldLayoutId id="2147483748" r:id="rId25"/>
    <p:sldLayoutId id="2147483749" r:id="rId26"/>
    <p:sldLayoutId id="2147483750" r:id="rId27"/>
    <p:sldLayoutId id="2147483751" r:id="rId28"/>
    <p:sldLayoutId id="2147483752" r:id="rId29"/>
    <p:sldLayoutId id="2147483753" r:id="rId30"/>
    <p:sldLayoutId id="2147483755" r:id="rId31"/>
    <p:sldLayoutId id="2147483756" r:id="rId32"/>
    <p:sldLayoutId id="2147483757" r:id="rId33"/>
    <p:sldLayoutId id="2147483758" r:id="rId34"/>
    <p:sldLayoutId id="2147483759" r:id="rId35"/>
    <p:sldLayoutId id="2147483760" r:id="rId36"/>
    <p:sldLayoutId id="2147483761" r:id="rId37"/>
    <p:sldLayoutId id="2147483762" r:id="rId38"/>
    <p:sldLayoutId id="2147483763" r:id="rId39"/>
    <p:sldLayoutId id="2147483764" r:id="rId40"/>
    <p:sldLayoutId id="2147483765" r:id="rId41"/>
    <p:sldLayoutId id="2147483767" r:id="rId42"/>
    <p:sldLayoutId id="2147483768" r:id="rId43"/>
    <p:sldLayoutId id="2147483769" r:id="rId44"/>
    <p:sldLayoutId id="2147483770" r:id="rId4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98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80" y="1"/>
            <a:ext cx="9134664" cy="680310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98"/>
          <p:cNvSpPr txBox="1">
            <a:spLocks noGrp="1"/>
          </p:cNvSpPr>
          <p:nvPr>
            <p:ph type="title"/>
          </p:nvPr>
        </p:nvSpPr>
        <p:spPr>
          <a:xfrm>
            <a:off x="151136" y="535851"/>
            <a:ext cx="884172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0" i="0" u="none" strike="noStrike" cap="non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98"/>
          <p:cNvSpPr txBox="1">
            <a:spLocks noGrp="1"/>
          </p:cNvSpPr>
          <p:nvPr>
            <p:ph type="body" idx="1"/>
          </p:nvPr>
        </p:nvSpPr>
        <p:spPr>
          <a:xfrm>
            <a:off x="183928" y="1776609"/>
            <a:ext cx="877614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8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8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98"/>
          <p:cNvSpPr txBox="1">
            <a:spLocks noGrp="1"/>
          </p:cNvSpPr>
          <p:nvPr>
            <p:ph type="sldNum" idx="12"/>
          </p:nvPr>
        </p:nvSpPr>
        <p:spPr>
          <a:xfrm>
            <a:off x="3322533" y="6631480"/>
            <a:ext cx="631418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423" marR="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0423" marR="0" lvl="1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0423" marR="0" lvl="2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0423" marR="0" lvl="3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0423" marR="0" lvl="4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0423" marR="0" lvl="5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0423" marR="0" lvl="6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0423" marR="0" lvl="7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0423" marR="0" lvl="8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9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/>
              <a:t> / 113</a:t>
            </a:r>
            <a:endParaRPr lang="en-US"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010079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  <p:sldLayoutId id="2147483791" r:id="rId20"/>
    <p:sldLayoutId id="2147483792" r:id="rId21"/>
    <p:sldLayoutId id="2147483793" r:id="rId22"/>
    <p:sldLayoutId id="2147483794" r:id="rId23"/>
    <p:sldLayoutId id="2147483795" r:id="rId24"/>
    <p:sldLayoutId id="2147483796" r:id="rId25"/>
    <p:sldLayoutId id="2147483797" r:id="rId26"/>
    <p:sldLayoutId id="2147483798" r:id="rId27"/>
    <p:sldLayoutId id="2147483799" r:id="rId28"/>
    <p:sldLayoutId id="2147483800" r:id="rId29"/>
    <p:sldLayoutId id="2147483801" r:id="rId30"/>
    <p:sldLayoutId id="2147483802" r:id="rId31"/>
    <p:sldLayoutId id="2147483803" r:id="rId32"/>
    <p:sldLayoutId id="2147483804" r:id="rId33"/>
    <p:sldLayoutId id="2147483805" r:id="rId34"/>
    <p:sldLayoutId id="2147483806" r:id="rId35"/>
    <p:sldLayoutId id="2147483807" r:id="rId36"/>
    <p:sldLayoutId id="2147483808" r:id="rId37"/>
    <p:sldLayoutId id="2147483809" r:id="rId38"/>
    <p:sldLayoutId id="2147483810" r:id="rId39"/>
    <p:sldLayoutId id="2147483811" r:id="rId40"/>
    <p:sldLayoutId id="2147483812" r:id="rId4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8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42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9.xml"/><Relationship Id="rId4" Type="http://schemas.openxmlformats.org/officeDocument/2006/relationships/image" Target="../media/image5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9.xml"/><Relationship Id="rId5" Type="http://schemas.openxmlformats.org/officeDocument/2006/relationships/slide" Target="slide48.xml"/><Relationship Id="rId4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6.xml"/><Relationship Id="rId6" Type="http://schemas.openxmlformats.org/officeDocument/2006/relationships/slide" Target="slide48.xml"/><Relationship Id="rId5" Type="http://schemas.openxmlformats.org/officeDocument/2006/relationships/image" Target="../media/image53.jpg"/><Relationship Id="rId4" Type="http://schemas.openxmlformats.org/officeDocument/2006/relationships/image" Target="../media/image5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9.xml"/><Relationship Id="rId4" Type="http://schemas.openxmlformats.org/officeDocument/2006/relationships/image" Target="../media/image4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9.xml"/><Relationship Id="rId4" Type="http://schemas.openxmlformats.org/officeDocument/2006/relationships/image" Target="../media/image5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9.xml"/><Relationship Id="rId5" Type="http://schemas.openxmlformats.org/officeDocument/2006/relationships/slide" Target="slide48.xml"/><Relationship Id="rId4" Type="http://schemas.openxmlformats.org/officeDocument/2006/relationships/image" Target="../media/image4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9.xml"/><Relationship Id="rId6" Type="http://schemas.openxmlformats.org/officeDocument/2006/relationships/slide" Target="slide48.xml"/><Relationship Id="rId5" Type="http://schemas.openxmlformats.org/officeDocument/2006/relationships/image" Target="../media/image57.jpg"/><Relationship Id="rId4" Type="http://schemas.openxmlformats.org/officeDocument/2006/relationships/image" Target="../media/image5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9.xml"/><Relationship Id="rId5" Type="http://schemas.openxmlformats.org/officeDocument/2006/relationships/slide" Target="slide48.xml"/><Relationship Id="rId4" Type="http://schemas.openxmlformats.org/officeDocument/2006/relationships/image" Target="../media/image5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9.xml"/><Relationship Id="rId5" Type="http://schemas.openxmlformats.org/officeDocument/2006/relationships/slide" Target="slide48.xml"/><Relationship Id="rId4" Type="http://schemas.openxmlformats.org/officeDocument/2006/relationships/image" Target="../media/image5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9.xml"/><Relationship Id="rId5" Type="http://schemas.openxmlformats.org/officeDocument/2006/relationships/image" Target="../media/image49.png"/><Relationship Id="rId4" Type="http://schemas.openxmlformats.org/officeDocument/2006/relationships/image" Target="../media/image5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9.xml"/><Relationship Id="rId5" Type="http://schemas.openxmlformats.org/officeDocument/2006/relationships/slide" Target="slide48.xml"/><Relationship Id="rId4" Type="http://schemas.openxmlformats.org/officeDocument/2006/relationships/image" Target="../media/image6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slide" Target="slide48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4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9.xml"/><Relationship Id="rId4" Type="http://schemas.openxmlformats.org/officeDocument/2006/relationships/image" Target="../media/image5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62.png"/><Relationship Id="rId5" Type="http://schemas.openxmlformats.org/officeDocument/2006/relationships/slide" Target="slide48.xml"/><Relationship Id="rId4" Type="http://schemas.openxmlformats.org/officeDocument/2006/relationships/image" Target="../media/image5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9.xml"/><Relationship Id="rId4" Type="http://schemas.openxmlformats.org/officeDocument/2006/relationships/image" Target="../media/image6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9.xml"/><Relationship Id="rId5" Type="http://schemas.openxmlformats.org/officeDocument/2006/relationships/slide" Target="slide48.xml"/><Relationship Id="rId4" Type="http://schemas.openxmlformats.org/officeDocument/2006/relationships/image" Target="../media/image4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9.xml"/><Relationship Id="rId4" Type="http://schemas.openxmlformats.org/officeDocument/2006/relationships/image" Target="../media/image6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65.png"/><Relationship Id="rId5" Type="http://schemas.openxmlformats.org/officeDocument/2006/relationships/slide" Target="slide48.xml"/><Relationship Id="rId4" Type="http://schemas.openxmlformats.org/officeDocument/2006/relationships/image" Target="../media/image4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8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9.xml"/><Relationship Id="rId4" Type="http://schemas.openxmlformats.org/officeDocument/2006/relationships/image" Target="../media/image66.jp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8.xml"/><Relationship Id="rId5" Type="http://schemas.openxmlformats.org/officeDocument/2006/relationships/slide" Target="slide48.xml"/><Relationship Id="rId4" Type="http://schemas.openxmlformats.org/officeDocument/2006/relationships/image" Target="../media/image4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9.xml"/><Relationship Id="rId6" Type="http://schemas.openxmlformats.org/officeDocument/2006/relationships/slide" Target="slide48.xml"/><Relationship Id="rId5" Type="http://schemas.openxmlformats.org/officeDocument/2006/relationships/image" Target="../media/image51.png"/><Relationship Id="rId4" Type="http://schemas.openxmlformats.org/officeDocument/2006/relationships/image" Target="../media/image49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9.xml"/><Relationship Id="rId4" Type="http://schemas.openxmlformats.org/officeDocument/2006/relationships/slide" Target="slide48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8.xml"/><Relationship Id="rId4" Type="http://schemas.openxmlformats.org/officeDocument/2006/relationships/slide" Target="slide48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9.xml"/><Relationship Id="rId6" Type="http://schemas.openxmlformats.org/officeDocument/2006/relationships/slide" Target="slide48.xml"/><Relationship Id="rId5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9.xml"/><Relationship Id="rId4" Type="http://schemas.openxmlformats.org/officeDocument/2006/relationships/slide" Target="slide4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90713" y="3810000"/>
            <a:ext cx="6243687" cy="1524000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IN" sz="3200" b="1" dirty="0">
                <a:latin typeface="+mn-lt"/>
                <a:cs typeface="Times New Roman" panose="02020603050405020304" pitchFamily="18" charset="0"/>
              </a:rPr>
              <a:t>Introduction to Data Science</a:t>
            </a:r>
            <a:br>
              <a:rPr lang="en-IN" sz="3600" dirty="0">
                <a:latin typeface="+mn-lt"/>
                <a:cs typeface="Times New Roman" panose="02020603050405020304" pitchFamily="18" charset="0"/>
              </a:rPr>
            </a:br>
            <a:r>
              <a:rPr lang="en-IN" sz="3600" dirty="0">
                <a:latin typeface="+mn-lt"/>
                <a:cs typeface="Times New Roman" panose="02020603050405020304" pitchFamily="18" charset="0"/>
              </a:rPr>
              <a:t>Data Wrangling </a:t>
            </a:r>
            <a:r>
              <a:rPr lang="en-IN" sz="2400" dirty="0">
                <a:latin typeface="+mn-lt"/>
                <a:cs typeface="Times New Roman" panose="02020603050405020304" pitchFamily="18" charset="0"/>
              </a:rPr>
              <a:t>(Contd.)</a:t>
            </a:r>
            <a:endParaRPr lang="en-US" sz="4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90C164-BD80-4958-B5AD-15C0024F6F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315200" y="6340475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8D7E44-7D4F-4942-A8C9-2DF6BF8399E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64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3962400"/>
            <a:ext cx="8229600" cy="2057400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slides presented here are obtained from the authors of the books and from various other contributors. I hereby acknowledge all the contributors for their material and inputs.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added and modified  slides to suit the requirements of the course.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4" descr="https://encrypted-tbn3.gstatic.com/images?q=tbn:ANd9GcT-t4XxLvev_e9TkOKa3ViwHYy7BYoQ_ix6S03O-vvhz20xPor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733030"/>
            <a:ext cx="20574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2939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FDB151-562B-4FB8-9407-BEA18B4959E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12/11/2023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6740DE-8293-487D-9531-1FF883CE064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60163" y="2443162"/>
            <a:ext cx="7886700" cy="197167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+mn-lt"/>
                <a:cs typeface="Times New Roman" panose="02020603050405020304" pitchFamily="18" charset="0"/>
              </a:rPr>
              <a:t>Data Similarity/Dissimilarity</a:t>
            </a:r>
            <a:endParaRPr lang="en-US" sz="3600" b="1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88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"/>
          <p:cNvSpPr txBox="1">
            <a:spLocks noGrp="1"/>
          </p:cNvSpPr>
          <p:nvPr>
            <p:ph type="body" idx="1"/>
          </p:nvPr>
        </p:nvSpPr>
        <p:spPr>
          <a:xfrm>
            <a:off x="1049993" y="1691167"/>
            <a:ext cx="6175221" cy="31162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257274" indent="-257274">
              <a:spcBef>
                <a:spcPts val="0"/>
              </a:spcBef>
              <a:buSzPts val="1100"/>
            </a:pPr>
            <a:r>
              <a:rPr lang="en-US" b="1" dirty="0">
                <a:latin typeface="+mn-lt"/>
              </a:rPr>
              <a:t>Various proximity measures</a:t>
            </a:r>
            <a:endParaRPr dirty="0">
              <a:latin typeface="+mn-lt"/>
            </a:endParaRPr>
          </a:p>
          <a:p>
            <a:pPr marL="257274" indent="-257274">
              <a:spcBef>
                <a:spcPts val="349"/>
              </a:spcBef>
              <a:buSzPct val="100000"/>
              <a:buFont typeface="Arial"/>
              <a:buChar char="•"/>
            </a:pPr>
            <a:r>
              <a:rPr lang="en-US" dirty="0">
                <a:latin typeface="+mn-lt"/>
              </a:rPr>
              <a:t>Dissimilarity Matrix</a:t>
            </a:r>
            <a:endParaRPr dirty="0">
              <a:latin typeface="+mn-lt"/>
            </a:endParaRPr>
          </a:p>
          <a:p>
            <a:pPr marL="257274" indent="-257274">
              <a:spcBef>
                <a:spcPts val="349"/>
              </a:spcBef>
              <a:buSzPct val="100000"/>
              <a:buFont typeface="Arial"/>
              <a:buChar char="•"/>
            </a:pPr>
            <a:r>
              <a:rPr lang="en-US" dirty="0">
                <a:latin typeface="+mn-lt"/>
              </a:rPr>
              <a:t>Proximity Measures for Nominal Attributes</a:t>
            </a:r>
            <a:endParaRPr dirty="0">
              <a:latin typeface="+mn-lt"/>
            </a:endParaRPr>
          </a:p>
          <a:p>
            <a:pPr marL="257274" indent="-257274">
              <a:spcBef>
                <a:spcPts val="349"/>
              </a:spcBef>
              <a:buSzPct val="100000"/>
              <a:buFont typeface="Arial"/>
              <a:buChar char="•"/>
            </a:pPr>
            <a:r>
              <a:rPr lang="en-US" dirty="0">
                <a:latin typeface="+mn-lt"/>
              </a:rPr>
              <a:t>Proximity Measures for Ordinal Attributes</a:t>
            </a:r>
          </a:p>
          <a:p>
            <a:pPr marL="257274" indent="-257274">
              <a:spcBef>
                <a:spcPts val="349"/>
              </a:spcBef>
              <a:buSzPct val="100000"/>
              <a:buFont typeface="Arial"/>
              <a:buChar char="•"/>
            </a:pPr>
            <a:r>
              <a:rPr lang="en-US" dirty="0">
                <a:latin typeface="+mn-lt"/>
              </a:rPr>
              <a:t>Proximity Measures for Binary Attributes</a:t>
            </a:r>
            <a:endParaRPr dirty="0">
              <a:latin typeface="+mn-lt"/>
            </a:endParaRPr>
          </a:p>
          <a:p>
            <a:pPr marL="982348" lvl="1" indent="-257274">
              <a:spcBef>
                <a:spcPts val="349"/>
              </a:spcBef>
              <a:buSzPct val="100000"/>
              <a:buFont typeface="Arial"/>
              <a:buChar char="•"/>
            </a:pPr>
            <a:r>
              <a:rPr lang="en-US" sz="1800" dirty="0">
                <a:latin typeface="+mn-lt"/>
              </a:rPr>
              <a:t>Symmetric Binary Attributes</a:t>
            </a:r>
            <a:endParaRPr sz="1800" dirty="0">
              <a:latin typeface="+mn-lt"/>
            </a:endParaRPr>
          </a:p>
          <a:p>
            <a:pPr marL="982348" lvl="1" indent="-257274">
              <a:spcBef>
                <a:spcPts val="349"/>
              </a:spcBef>
              <a:buSzPct val="100000"/>
              <a:buFont typeface="Arial"/>
              <a:buChar char="•"/>
            </a:pPr>
            <a:r>
              <a:rPr lang="en-US" sz="1800" dirty="0">
                <a:latin typeface="+mn-lt"/>
              </a:rPr>
              <a:t>Asymmetric Binary Attributes</a:t>
            </a:r>
            <a:endParaRPr sz="1800" dirty="0">
              <a:latin typeface="+mn-lt"/>
            </a:endParaRPr>
          </a:p>
          <a:p>
            <a:pPr marL="257274" indent="-257274">
              <a:spcBef>
                <a:spcPts val="349"/>
              </a:spcBef>
              <a:buSzPct val="100000"/>
              <a:buFont typeface="Arial"/>
              <a:buChar char="•"/>
            </a:pPr>
            <a:r>
              <a:rPr lang="en-US" dirty="0">
                <a:latin typeface="+mn-lt"/>
              </a:rPr>
              <a:t>Proximity Measures for Numeric Data</a:t>
            </a:r>
            <a:endParaRPr dirty="0">
              <a:latin typeface="+mn-lt"/>
            </a:endParaRPr>
          </a:p>
          <a:p>
            <a:pPr marL="257274" indent="-257274">
              <a:spcBef>
                <a:spcPts val="349"/>
              </a:spcBef>
              <a:buSzPct val="100000"/>
              <a:buFont typeface="Arial"/>
              <a:buChar char="•"/>
            </a:pPr>
            <a:r>
              <a:rPr lang="en-US" dirty="0">
                <a:latin typeface="+mn-lt"/>
              </a:rPr>
              <a:t>Proximity Measures for Mixed Types</a:t>
            </a:r>
            <a:endParaRPr dirty="0">
              <a:latin typeface="+mn-lt"/>
            </a:endParaRPr>
          </a:p>
          <a:p>
            <a:pPr marL="257274" indent="-257274">
              <a:spcBef>
                <a:spcPts val="349"/>
              </a:spcBef>
              <a:buSzPct val="100000"/>
              <a:buFont typeface="Arial"/>
              <a:buChar char="•"/>
            </a:pPr>
            <a:r>
              <a:rPr lang="en-US" dirty="0">
                <a:latin typeface="+mn-lt"/>
              </a:rPr>
              <a:t>Cosine Similarity</a:t>
            </a:r>
            <a:endParaRPr dirty="0">
              <a:latin typeface="+mn-lt"/>
            </a:endParaRPr>
          </a:p>
        </p:txBody>
      </p:sp>
      <p:sp>
        <p:nvSpPr>
          <p:cNvPr id="709" name="Google Shape;709;p5"/>
          <p:cNvSpPr txBox="1">
            <a:spLocks noGrp="1"/>
          </p:cNvSpPr>
          <p:nvPr>
            <p:ph type="body" idx="2"/>
          </p:nvPr>
        </p:nvSpPr>
        <p:spPr>
          <a:xfrm>
            <a:off x="182879" y="708661"/>
            <a:ext cx="7646671" cy="571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/>
          <a:p>
            <a:pPr marL="0" indent="0" defTabSz="685800">
              <a:lnSpc>
                <a:spcPct val="90000"/>
              </a:lnSpc>
              <a:spcBef>
                <a:spcPct val="0"/>
              </a:spcBef>
              <a:buClr>
                <a:srgbClr val="3333B2"/>
              </a:buClr>
              <a:buSzPts val="1700"/>
            </a:pPr>
            <a:r>
              <a:rPr lang="en-US" sz="3200" dirty="0">
                <a:solidFill>
                  <a:schemeClr val="tx1"/>
                </a:solidFill>
                <a:latin typeface="+mn-lt"/>
                <a:ea typeface="+mj-ea"/>
                <a:cs typeface="Times New Roman" panose="02020603050405020304" pitchFamily="18" charset="0"/>
                <a:sym typeface="Calibri"/>
              </a:rPr>
              <a:t>Measuring Data Similarity and Dissimilarity</a:t>
            </a:r>
            <a:endParaRPr sz="3200" dirty="0">
              <a:solidFill>
                <a:schemeClr val="tx1"/>
              </a:solidFill>
              <a:latin typeface="+mn-lt"/>
              <a:ea typeface="+mj-ea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227015" y="477116"/>
            <a:ext cx="7886700" cy="73474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>
                <a:cs typeface="Times New Roman" panose="02020603050405020304" pitchFamily="18" charset="0"/>
              </a:rPr>
              <a:t>Similarity and Dissimilarity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idx="1"/>
          </p:nvPr>
        </p:nvSpPr>
        <p:spPr>
          <a:xfrm>
            <a:off x="697230" y="1615705"/>
            <a:ext cx="7886700" cy="44733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</a:pPr>
            <a:r>
              <a:rPr lang="en-US" altLang="en-US" sz="1800" b="1" dirty="0">
                <a:cs typeface="Times New Roman" panose="02020603050405020304" pitchFamily="18" charset="0"/>
              </a:rPr>
              <a:t>Similarity</a:t>
            </a:r>
          </a:p>
          <a:p>
            <a:pPr lvl="1">
              <a:lnSpc>
                <a:spcPct val="100000"/>
              </a:lnSpc>
              <a:spcBef>
                <a:spcPts val="9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Numerical measure of how alike two data objects are</a:t>
            </a:r>
          </a:p>
          <a:p>
            <a:pPr lvl="1">
              <a:lnSpc>
                <a:spcPct val="100000"/>
              </a:lnSpc>
              <a:spcBef>
                <a:spcPts val="9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Value is higher when objects are more alike</a:t>
            </a:r>
          </a:p>
          <a:p>
            <a:pPr lvl="1">
              <a:lnSpc>
                <a:spcPct val="100000"/>
              </a:lnSpc>
              <a:spcBef>
                <a:spcPts val="9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Often falls in the range [0,1]</a:t>
            </a:r>
          </a:p>
          <a:p>
            <a:pPr>
              <a:lnSpc>
                <a:spcPct val="100000"/>
              </a:lnSpc>
              <a:spcBef>
                <a:spcPts val="900"/>
              </a:spcBef>
            </a:pPr>
            <a:r>
              <a:rPr lang="en-US" altLang="en-US" sz="1800" b="1" dirty="0">
                <a:cs typeface="Times New Roman" panose="02020603050405020304" pitchFamily="18" charset="0"/>
              </a:rPr>
              <a:t>Dissimilarity</a:t>
            </a:r>
            <a:r>
              <a:rPr lang="en-US" altLang="en-US" sz="1800" dirty="0">
                <a:cs typeface="Times New Roman" panose="02020603050405020304" pitchFamily="18" charset="0"/>
              </a:rPr>
              <a:t> (e.g., distance)</a:t>
            </a:r>
          </a:p>
          <a:p>
            <a:pPr lvl="1">
              <a:lnSpc>
                <a:spcPct val="100000"/>
              </a:lnSpc>
              <a:spcBef>
                <a:spcPts val="9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Numerical measure of how different two data objects are</a:t>
            </a:r>
          </a:p>
          <a:p>
            <a:pPr lvl="1">
              <a:lnSpc>
                <a:spcPct val="100000"/>
              </a:lnSpc>
              <a:spcBef>
                <a:spcPts val="9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Lower when objects are more alike</a:t>
            </a:r>
          </a:p>
          <a:p>
            <a:pPr lvl="1">
              <a:lnSpc>
                <a:spcPct val="100000"/>
              </a:lnSpc>
              <a:spcBef>
                <a:spcPts val="9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Minimum dissimilarity is often 0</a:t>
            </a:r>
          </a:p>
          <a:p>
            <a:pPr lvl="1">
              <a:lnSpc>
                <a:spcPct val="100000"/>
              </a:lnSpc>
              <a:spcBef>
                <a:spcPts val="9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Upper limit varies</a:t>
            </a:r>
          </a:p>
          <a:p>
            <a:pPr>
              <a:lnSpc>
                <a:spcPct val="100000"/>
              </a:lnSpc>
              <a:spcBef>
                <a:spcPts val="900"/>
              </a:spcBef>
            </a:pPr>
            <a:r>
              <a:rPr lang="en-US" altLang="en-US" sz="1800" b="1" dirty="0">
                <a:cs typeface="Times New Roman" panose="02020603050405020304" pitchFamily="18" charset="0"/>
              </a:rPr>
              <a:t>Proximity</a:t>
            </a:r>
            <a:r>
              <a:rPr lang="en-US" altLang="en-US" sz="1800" dirty="0">
                <a:cs typeface="Times New Roman" panose="02020603050405020304" pitchFamily="18" charset="0"/>
              </a:rPr>
              <a:t> refers to a similarity or dissimilarity</a:t>
            </a:r>
          </a:p>
        </p:txBody>
      </p:sp>
      <p:sp>
        <p:nvSpPr>
          <p:cNvPr id="552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213" indent="-214313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8909817F-5932-4890-A5F1-9C8ED0E10C88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5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9235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132061" y="633304"/>
            <a:ext cx="7886700" cy="58956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>
                <a:cs typeface="Times New Roman" panose="02020603050405020304" pitchFamily="18" charset="0"/>
              </a:rPr>
              <a:t>Data Matrix and Dissimilarity Matrix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idx="1"/>
          </p:nvPr>
        </p:nvSpPr>
        <p:spPr>
          <a:xfrm>
            <a:off x="291214" y="1696805"/>
            <a:ext cx="4801867" cy="3263504"/>
          </a:xfrm>
        </p:spPr>
        <p:txBody>
          <a:bodyPr/>
          <a:lstStyle/>
          <a:p>
            <a:pPr eaLnBrk="1" hangingPunct="1"/>
            <a:r>
              <a:rPr lang="en-US" altLang="en-US" sz="1800" dirty="0">
                <a:solidFill>
                  <a:schemeClr val="hlink"/>
                </a:solidFill>
                <a:cs typeface="Times New Roman" panose="02020603050405020304" pitchFamily="18" charset="0"/>
              </a:rPr>
              <a:t>Data matrix</a:t>
            </a:r>
          </a:p>
          <a:p>
            <a:pPr lvl="1" eaLnBrk="1" hangingPunct="1"/>
            <a:r>
              <a:rPr lang="en-US" altLang="en-US" dirty="0">
                <a:cs typeface="Times New Roman" panose="02020603050405020304" pitchFamily="18" charset="0"/>
              </a:rPr>
              <a:t>n data points with p dimensions</a:t>
            </a:r>
          </a:p>
          <a:p>
            <a:pPr lvl="1" eaLnBrk="1" hangingPunct="1"/>
            <a:r>
              <a:rPr lang="en-US" altLang="en-US" dirty="0">
                <a:cs typeface="Times New Roman" panose="02020603050405020304" pitchFamily="18" charset="0"/>
              </a:rPr>
              <a:t>Two modes</a:t>
            </a:r>
          </a:p>
          <a:p>
            <a:pPr eaLnBrk="1" hangingPunct="1"/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dirty="0">
                <a:solidFill>
                  <a:schemeClr val="hlink"/>
                </a:solidFill>
                <a:cs typeface="Times New Roman" panose="02020603050405020304" pitchFamily="18" charset="0"/>
              </a:rPr>
              <a:t>Dissimilarity matrix</a:t>
            </a:r>
          </a:p>
          <a:p>
            <a:pPr lvl="1" eaLnBrk="1" hangingPunct="1"/>
            <a:r>
              <a:rPr lang="en-US" altLang="en-US" dirty="0">
                <a:cs typeface="Times New Roman" panose="02020603050405020304" pitchFamily="18" charset="0"/>
              </a:rPr>
              <a:t>n data points, but registers only the distance </a:t>
            </a:r>
          </a:p>
          <a:p>
            <a:pPr lvl="1" eaLnBrk="1" hangingPunct="1"/>
            <a:r>
              <a:rPr lang="en-US" altLang="en-US" dirty="0">
                <a:cs typeface="Times New Roman" panose="02020603050405020304" pitchFamily="18" charset="0"/>
              </a:rPr>
              <a:t>A triangular matrix</a:t>
            </a:r>
          </a:p>
          <a:p>
            <a:pPr lvl="1" eaLnBrk="1" hangingPunct="1"/>
            <a:r>
              <a:rPr lang="en-US" altLang="en-US" dirty="0">
                <a:cs typeface="Times New Roman" panose="02020603050405020304" pitchFamily="18" charset="0"/>
              </a:rPr>
              <a:t>Single mode</a:t>
            </a:r>
          </a:p>
        </p:txBody>
      </p:sp>
      <p:sp>
        <p:nvSpPr>
          <p:cNvPr id="563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213" indent="-214313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E7CCACFD-7CD1-437B-BD52-1A2CAE29C9A6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6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56325" name="Object 4"/>
          <p:cNvGraphicFramePr>
            <a:graphicFrameLocks noChangeAspect="1"/>
          </p:cNvGraphicFramePr>
          <p:nvPr/>
        </p:nvGraphicFramePr>
        <p:xfrm>
          <a:off x="5132406" y="1470364"/>
          <a:ext cx="2343150" cy="1544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78000" imgH="1244600" progId="Equation.3">
                  <p:embed/>
                </p:oleObj>
              </mc:Choice>
              <mc:Fallback>
                <p:oleObj name="Equation" r:id="rId3" imgW="1778000" imgH="1244600" progId="Equation.3">
                  <p:embed/>
                  <p:pic>
                    <p:nvPicPr>
                      <p:cNvPr id="5632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2406" y="1470364"/>
                        <a:ext cx="2343150" cy="15442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5"/>
          <p:cNvGraphicFramePr>
            <a:graphicFrameLocks noChangeAspect="1"/>
          </p:cNvGraphicFramePr>
          <p:nvPr/>
        </p:nvGraphicFramePr>
        <p:xfrm>
          <a:off x="5278582" y="3948545"/>
          <a:ext cx="2571750" cy="1477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28800" imgH="1143000" progId="Equation.3">
                  <p:embed/>
                </p:oleObj>
              </mc:Choice>
              <mc:Fallback>
                <p:oleObj name="Equation" r:id="rId5" imgW="1828800" imgH="1143000" progId="Equation.3">
                  <p:embed/>
                  <p:pic>
                    <p:nvPicPr>
                      <p:cNvPr id="5632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8582" y="3948545"/>
                        <a:ext cx="2571750" cy="14775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6638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8"/>
          <p:cNvSpPr txBox="1">
            <a:spLocks noGrp="1"/>
          </p:cNvSpPr>
          <p:nvPr>
            <p:ph type="body" idx="2"/>
          </p:nvPr>
        </p:nvSpPr>
        <p:spPr>
          <a:xfrm>
            <a:off x="167639" y="696029"/>
            <a:ext cx="7239001" cy="6184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/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sz="3200" dirty="0">
                <a:solidFill>
                  <a:schemeClr val="tx1"/>
                </a:solidFill>
                <a:latin typeface="+mn-lt"/>
                <a:ea typeface="+mj-ea"/>
                <a:cs typeface="Times New Roman" panose="02020603050405020304" pitchFamily="18" charset="0"/>
                <a:sym typeface="Calibri"/>
              </a:rPr>
              <a:t>Proximity</a:t>
            </a:r>
            <a:r>
              <a:rPr lang="en-US" sz="2696" b="0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>
                <a:solidFill>
                  <a:schemeClr val="tx1"/>
                </a:solidFill>
                <a:latin typeface="+mn-lt"/>
                <a:ea typeface="+mj-ea"/>
                <a:cs typeface="Times New Roman" panose="02020603050405020304" pitchFamily="18" charset="0"/>
                <a:sym typeface="Calibri"/>
              </a:rPr>
              <a:t>Measure for Nominal Attributes</a:t>
            </a:r>
            <a:endParaRPr sz="3200" dirty="0">
              <a:solidFill>
                <a:schemeClr val="tx1"/>
              </a:solidFill>
              <a:latin typeface="+mn-lt"/>
              <a:ea typeface="+mj-ea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732" name="Google Shape;732;p8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2678" y="1965345"/>
            <a:ext cx="8478643" cy="35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9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000" y="1828155"/>
            <a:ext cx="8782000" cy="393670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31;p8">
            <a:extLst>
              <a:ext uri="{FF2B5EF4-FFF2-40B4-BE49-F238E27FC236}">
                <a16:creationId xmlns:a16="http://schemas.microsoft.com/office/drawing/2014/main" id="{0C38A2D3-36A3-68D8-3D13-5A13DB592528}"/>
              </a:ext>
            </a:extLst>
          </p:cNvPr>
          <p:cNvSpPr txBox="1">
            <a:spLocks/>
          </p:cNvSpPr>
          <p:nvPr/>
        </p:nvSpPr>
        <p:spPr>
          <a:xfrm>
            <a:off x="167639" y="696029"/>
            <a:ext cx="7239001" cy="6184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sz="3200">
                <a:solidFill>
                  <a:schemeClr val="tx1"/>
                </a:solidFill>
                <a:latin typeface="+mn-lt"/>
                <a:ea typeface="+mj-ea"/>
                <a:cs typeface="Times New Roman" panose="02020603050405020304" pitchFamily="18" charset="0"/>
                <a:sym typeface="Calibri"/>
              </a:rPr>
              <a:t>Proximity</a:t>
            </a:r>
            <a:r>
              <a:rPr lang="en-US" sz="2696" b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tx1"/>
                </a:solidFill>
                <a:latin typeface="+mn-lt"/>
                <a:ea typeface="+mj-ea"/>
                <a:cs typeface="Times New Roman" panose="02020603050405020304" pitchFamily="18" charset="0"/>
                <a:sym typeface="Calibri"/>
              </a:rPr>
              <a:t>Measure for Nominal Attributes</a:t>
            </a:r>
            <a:endParaRPr lang="en-US" sz="3200" dirty="0">
              <a:solidFill>
                <a:schemeClr val="tx1"/>
              </a:solidFill>
              <a:latin typeface="+mn-lt"/>
              <a:ea typeface="+mj-ea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>
          <a:xfrm>
            <a:off x="149350" y="607312"/>
            <a:ext cx="7886700" cy="648611"/>
          </a:xfrm>
          <a:noFill/>
        </p:spPr>
        <p:txBody>
          <a:bodyPr vert="horz" lIns="69056" tIns="34529" rIns="69056" bIns="34529" rtlCol="0" anchor="ctr">
            <a:normAutofit fontScale="90000"/>
          </a:bodyPr>
          <a:lstStyle/>
          <a:p>
            <a:pPr eaLnBrk="1" hangingPunct="1"/>
            <a:r>
              <a:rPr lang="en-US" altLang="en-US" sz="3600" b="1" dirty="0">
                <a:cs typeface="Times New Roman" panose="02020603050405020304" pitchFamily="18" charset="0"/>
              </a:rPr>
              <a:t>Proximity Measure for Nominal Attributes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idx="1"/>
          </p:nvPr>
        </p:nvSpPr>
        <p:spPr>
          <a:xfrm>
            <a:off x="255944" y="1629396"/>
            <a:ext cx="7886700" cy="3263504"/>
          </a:xfrm>
          <a:noFill/>
        </p:spPr>
        <p:txBody>
          <a:bodyPr vert="horz" lIns="69056" tIns="34529" rIns="69056" bIns="34529" rtlCol="0"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1800" dirty="0">
                <a:cs typeface="Times New Roman" panose="02020603050405020304" pitchFamily="18" charset="0"/>
              </a:rPr>
              <a:t>Can take 2 or more states, e.g., red, yellow, blue, green (generalization of a binary attribute)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800" u="sng" dirty="0">
                <a:cs typeface="Times New Roman" panose="02020603050405020304" pitchFamily="18" charset="0"/>
              </a:rPr>
              <a:t>Method 1</a:t>
            </a:r>
            <a:r>
              <a:rPr lang="en-US" altLang="en-US" sz="1800" dirty="0">
                <a:cs typeface="Times New Roman" panose="02020603050405020304" pitchFamily="18" charset="0"/>
              </a:rPr>
              <a:t>: Simple matching</a:t>
            </a:r>
            <a:endParaRPr lang="en-US" altLang="en-US" sz="1800" i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en-US" i="1" dirty="0">
                <a:cs typeface="Times New Roman" panose="02020603050405020304" pitchFamily="18" charset="0"/>
              </a:rPr>
              <a:t>m</a:t>
            </a:r>
            <a:r>
              <a:rPr lang="en-US" altLang="en-US" dirty="0">
                <a:cs typeface="Times New Roman" panose="02020603050405020304" pitchFamily="18" charset="0"/>
              </a:rPr>
              <a:t>: # of matches,</a:t>
            </a:r>
            <a:r>
              <a:rPr lang="en-US" altLang="en-US" i="1" dirty="0">
                <a:cs typeface="Times New Roman" panose="02020603050405020304" pitchFamily="18" charset="0"/>
              </a:rPr>
              <a:t> p</a:t>
            </a:r>
            <a:r>
              <a:rPr lang="en-US" altLang="en-US" dirty="0">
                <a:cs typeface="Times New Roman" panose="02020603050405020304" pitchFamily="18" charset="0"/>
              </a:rPr>
              <a:t>: total # of variables</a:t>
            </a:r>
          </a:p>
          <a:p>
            <a:pPr eaLnBrk="1" hangingPunct="1">
              <a:lnSpc>
                <a:spcPct val="120000"/>
              </a:lnSpc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en-US" sz="1800" u="sng" dirty="0">
                <a:cs typeface="Times New Roman" panose="02020603050405020304" pitchFamily="18" charset="0"/>
              </a:rPr>
              <a:t>Method 2</a:t>
            </a:r>
            <a:r>
              <a:rPr lang="en-US" altLang="en-US" sz="1800" dirty="0">
                <a:cs typeface="Times New Roman" panose="02020603050405020304" pitchFamily="18" charset="0"/>
              </a:rPr>
              <a:t>: Use a large number of binary attributes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creating a new binary attribute for each of the </a:t>
            </a:r>
            <a:r>
              <a:rPr lang="en-US" altLang="en-US" i="1" dirty="0">
                <a:cs typeface="Times New Roman" panose="02020603050405020304" pitchFamily="18" charset="0"/>
              </a:rPr>
              <a:t>M</a:t>
            </a:r>
            <a:r>
              <a:rPr lang="en-US" altLang="en-US" dirty="0">
                <a:cs typeface="Times New Roman" panose="02020603050405020304" pitchFamily="18" charset="0"/>
              </a:rPr>
              <a:t> nominal states</a:t>
            </a:r>
          </a:p>
        </p:txBody>
      </p:sp>
      <p:sp>
        <p:nvSpPr>
          <p:cNvPr id="573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213" indent="-214313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67958C36-E555-419B-95FC-7ACC50C6D9D0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9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57349" name="Object 4"/>
          <p:cNvGraphicFramePr>
            <a:graphicFrameLocks noChangeAspect="1"/>
          </p:cNvGraphicFramePr>
          <p:nvPr/>
        </p:nvGraphicFramePr>
        <p:xfrm>
          <a:off x="4862190" y="2462998"/>
          <a:ext cx="200025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84300" imgH="469900" progId="Equation.3">
                  <p:embed/>
                </p:oleObj>
              </mc:Choice>
              <mc:Fallback>
                <p:oleObj name="Equation" r:id="rId3" imgW="1384300" imgH="469900" progId="Equation.3">
                  <p:embed/>
                  <p:pic>
                    <p:nvPicPr>
                      <p:cNvPr id="5734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190" y="2462998"/>
                        <a:ext cx="200025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4345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2423160" y="3121843"/>
            <a:ext cx="5303520" cy="614314"/>
          </a:xfrm>
          <a:noFill/>
        </p:spPr>
        <p:txBody>
          <a:bodyPr vert="horz" lIns="69056" tIns="34529" rIns="69056" bIns="34529" rtlCol="0" anchor="ctr">
            <a:normAutofit/>
          </a:bodyPr>
          <a:lstStyle/>
          <a:p>
            <a:pPr eaLnBrk="1" hangingPunct="1"/>
            <a:r>
              <a:rPr lang="en-US" altLang="en-US" sz="3600" b="1" dirty="0">
                <a:cs typeface="Times New Roman" panose="02020603050405020304" pitchFamily="18" charset="0"/>
              </a:rPr>
              <a:t>Ordinal Variables</a:t>
            </a:r>
          </a:p>
        </p:txBody>
      </p:sp>
      <p:sp>
        <p:nvSpPr>
          <p:cNvPr id="645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213" indent="-214313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034AEA5D-933E-43EF-BC68-49402D6D3A82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10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474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0"/>
          <p:cNvSpPr txBox="1">
            <a:spLocks noGrp="1"/>
          </p:cNvSpPr>
          <p:nvPr>
            <p:ph type="body" idx="2"/>
          </p:nvPr>
        </p:nvSpPr>
        <p:spPr>
          <a:xfrm>
            <a:off x="214624" y="628650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/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Ordinal Attributes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C26888-D64D-FF90-5E3D-DE6131B62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1851660"/>
            <a:ext cx="82677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588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43;p10">
            <a:extLst>
              <a:ext uri="{FF2B5EF4-FFF2-40B4-BE49-F238E27FC236}">
                <a16:creationId xmlns:a16="http://schemas.microsoft.com/office/drawing/2014/main" id="{F3FCA7D4-0677-DBDD-9673-AADBF130EF13}"/>
              </a:ext>
            </a:extLst>
          </p:cNvPr>
          <p:cNvSpPr txBox="1">
            <a:spLocks/>
          </p:cNvSpPr>
          <p:nvPr/>
        </p:nvSpPr>
        <p:spPr>
          <a:xfrm>
            <a:off x="214624" y="628650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Ordinal Attributes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483DF0-1F26-0212-1D86-965A790D6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" y="1824037"/>
            <a:ext cx="8896350" cy="35528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12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862" y="1745368"/>
            <a:ext cx="9042848" cy="411167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43;p10">
            <a:extLst>
              <a:ext uri="{FF2B5EF4-FFF2-40B4-BE49-F238E27FC236}">
                <a16:creationId xmlns:a16="http://schemas.microsoft.com/office/drawing/2014/main" id="{15E6364F-E51C-7EE8-8F4E-AEE50750AF83}"/>
              </a:ext>
            </a:extLst>
          </p:cNvPr>
          <p:cNvSpPr txBox="1">
            <a:spLocks/>
          </p:cNvSpPr>
          <p:nvPr/>
        </p:nvSpPr>
        <p:spPr>
          <a:xfrm>
            <a:off x="214624" y="628650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Ordinal Attributes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43;p10">
            <a:extLst>
              <a:ext uri="{FF2B5EF4-FFF2-40B4-BE49-F238E27FC236}">
                <a16:creationId xmlns:a16="http://schemas.microsoft.com/office/drawing/2014/main" id="{5FB2CD49-403F-7229-AF42-ED82ABA6BB3C}"/>
              </a:ext>
            </a:extLst>
          </p:cNvPr>
          <p:cNvSpPr txBox="1">
            <a:spLocks/>
          </p:cNvSpPr>
          <p:nvPr/>
        </p:nvSpPr>
        <p:spPr>
          <a:xfrm>
            <a:off x="214624" y="628650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Ordinal Attributes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156A8D-E06A-3D60-183C-FDE323B84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2" y="1600200"/>
            <a:ext cx="886777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09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43;p10">
            <a:extLst>
              <a:ext uri="{FF2B5EF4-FFF2-40B4-BE49-F238E27FC236}">
                <a16:creationId xmlns:a16="http://schemas.microsoft.com/office/drawing/2014/main" id="{DFEA452C-B083-D6B9-FB5C-3A73850C2693}"/>
              </a:ext>
            </a:extLst>
          </p:cNvPr>
          <p:cNvSpPr txBox="1">
            <a:spLocks/>
          </p:cNvSpPr>
          <p:nvPr/>
        </p:nvSpPr>
        <p:spPr>
          <a:xfrm>
            <a:off x="214624" y="628650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Ordinal Attributes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2794BF-E542-FFDD-65D1-A505538A3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3" y="1699260"/>
            <a:ext cx="9009507" cy="37505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229155" y="625256"/>
            <a:ext cx="7886700" cy="614314"/>
          </a:xfrm>
          <a:noFill/>
        </p:spPr>
        <p:txBody>
          <a:bodyPr vert="horz" lIns="69056" tIns="34529" rIns="69056" bIns="34529" rtlCol="0" anchor="ctr">
            <a:normAutofit/>
          </a:bodyPr>
          <a:lstStyle/>
          <a:p>
            <a:pPr eaLnBrk="1" hangingPunct="1"/>
            <a:r>
              <a:rPr lang="en-US" altLang="en-US" sz="3600" b="1" dirty="0">
                <a:cs typeface="Times New Roman" panose="02020603050405020304" pitchFamily="18" charset="0"/>
              </a:rPr>
              <a:t>Ordinal Variables</a:t>
            </a:r>
          </a:p>
        </p:txBody>
      </p:sp>
      <p:sp>
        <p:nvSpPr>
          <p:cNvPr id="64516" name="Rectangle 3"/>
          <p:cNvSpPr>
            <a:spLocks noGrp="1" noChangeArrowheads="1"/>
          </p:cNvSpPr>
          <p:nvPr>
            <p:ph idx="1"/>
          </p:nvPr>
        </p:nvSpPr>
        <p:spPr>
          <a:xfrm>
            <a:off x="268730" y="1465599"/>
            <a:ext cx="7886700" cy="4351338"/>
          </a:xfrm>
          <a:noFill/>
        </p:spPr>
        <p:txBody>
          <a:bodyPr vert="horz" lIns="69056" tIns="34529" rIns="69056" bIns="34529" rtlCol="0"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cs typeface="Times New Roman" panose="02020603050405020304" pitchFamily="18" charset="0"/>
              </a:rPr>
              <a:t>An ordinal variable can be discrete or continuous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cs typeface="Times New Roman" panose="02020603050405020304" pitchFamily="18" charset="0"/>
              </a:rPr>
              <a:t>Order is important, e.g., rank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cs typeface="Times New Roman" panose="02020603050405020304" pitchFamily="18" charset="0"/>
              </a:rPr>
              <a:t>Can be treated like interval-scaled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replace </a:t>
            </a:r>
            <a:r>
              <a:rPr lang="en-US" altLang="en-US" i="1" dirty="0" err="1">
                <a:cs typeface="Times New Roman" panose="02020603050405020304" pitchFamily="18" charset="0"/>
              </a:rPr>
              <a:t>x</a:t>
            </a:r>
            <a:r>
              <a:rPr lang="en-US" altLang="en-US" i="1" baseline="-25000" dirty="0" err="1">
                <a:cs typeface="Times New Roman" panose="02020603050405020304" pitchFamily="18" charset="0"/>
              </a:rPr>
              <a:t>if</a:t>
            </a:r>
            <a:r>
              <a:rPr lang="en-US" altLang="en-US" baseline="-25000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cs typeface="Times New Roman" panose="02020603050405020304" pitchFamily="18" charset="0"/>
              </a:rPr>
              <a:t> by their rank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map the range of each variable onto [0, 1] by replacing</a:t>
            </a:r>
            <a:r>
              <a:rPr lang="en-US" altLang="en-US" i="1" dirty="0"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cs typeface="Times New Roman" panose="02020603050405020304" pitchFamily="18" charset="0"/>
              </a:rPr>
              <a:t>i</a:t>
            </a:r>
            <a:r>
              <a:rPr lang="en-US" altLang="en-US" dirty="0" err="1">
                <a:cs typeface="Times New Roman" panose="02020603050405020304" pitchFamily="18" charset="0"/>
              </a:rPr>
              <a:t>-th</a:t>
            </a:r>
            <a:r>
              <a:rPr lang="en-US" altLang="en-US" dirty="0">
                <a:cs typeface="Times New Roman" panose="02020603050405020304" pitchFamily="18" charset="0"/>
              </a:rPr>
              <a:t> object in the </a:t>
            </a:r>
            <a:r>
              <a:rPr lang="en-US" altLang="en-US" i="1" dirty="0">
                <a:cs typeface="Times New Roman" panose="02020603050405020304" pitchFamily="18" charset="0"/>
              </a:rPr>
              <a:t>f</a:t>
            </a:r>
            <a:r>
              <a:rPr lang="en-US" altLang="en-US" dirty="0">
                <a:cs typeface="Times New Roman" panose="02020603050405020304" pitchFamily="18" charset="0"/>
              </a:rPr>
              <a:t>-</a:t>
            </a:r>
            <a:r>
              <a:rPr lang="en-US" altLang="en-US" dirty="0" err="1">
                <a:cs typeface="Times New Roman" panose="02020603050405020304" pitchFamily="18" charset="0"/>
              </a:rPr>
              <a:t>th</a:t>
            </a:r>
            <a:r>
              <a:rPr lang="en-US" altLang="en-US" dirty="0">
                <a:cs typeface="Times New Roman" panose="02020603050405020304" pitchFamily="18" charset="0"/>
              </a:rPr>
              <a:t> variable by</a:t>
            </a:r>
          </a:p>
          <a:p>
            <a:pPr lvl="1" eaLnBrk="1" hangingPunct="1">
              <a:lnSpc>
                <a:spcPct val="11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</a:pPr>
            <a:endParaRPr lang="en-US" altLang="en-US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compute the dissimilarity using methods for interval-scaled variables</a:t>
            </a:r>
          </a:p>
        </p:txBody>
      </p:sp>
      <p:sp>
        <p:nvSpPr>
          <p:cNvPr id="645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213" indent="-214313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034AEA5D-933E-43EF-BC68-49402D6D3A82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16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64517" name="Object 4"/>
          <p:cNvGraphicFramePr>
            <a:graphicFrameLocks noChangeAspect="1"/>
          </p:cNvGraphicFramePr>
          <p:nvPr/>
        </p:nvGraphicFramePr>
        <p:xfrm>
          <a:off x="3529357" y="3414568"/>
          <a:ext cx="1828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68400" imgH="711200" progId="Equation.3">
                  <p:embed/>
                </p:oleObj>
              </mc:Choice>
              <mc:Fallback>
                <p:oleObj name="Equation" r:id="rId3" imgW="1168400" imgH="711200" progId="Equation.3">
                  <p:embed/>
                  <p:pic>
                    <p:nvPicPr>
                      <p:cNvPr id="6451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357" y="3414568"/>
                        <a:ext cx="1828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8" name="Object 5"/>
          <p:cNvGraphicFramePr>
            <a:graphicFrameLocks noChangeAspect="1"/>
          </p:cNvGraphicFramePr>
          <p:nvPr/>
        </p:nvGraphicFramePr>
        <p:xfrm>
          <a:off x="4606328" y="2680081"/>
          <a:ext cx="1657350" cy="332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7000" imgH="368300" progId="Equation.3">
                  <p:embed/>
                </p:oleObj>
              </mc:Choice>
              <mc:Fallback>
                <p:oleObj name="Equation" r:id="rId5" imgW="1397000" imgH="368300" progId="Equation.3">
                  <p:embed/>
                  <p:pic>
                    <p:nvPicPr>
                      <p:cNvPr id="6451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6328" y="2680081"/>
                        <a:ext cx="1657350" cy="332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382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43;p10">
            <a:extLst>
              <a:ext uri="{FF2B5EF4-FFF2-40B4-BE49-F238E27FC236}">
                <a16:creationId xmlns:a16="http://schemas.microsoft.com/office/drawing/2014/main" id="{26BAF040-2DB0-D901-F7A7-F7F535158030}"/>
              </a:ext>
            </a:extLst>
          </p:cNvPr>
          <p:cNvSpPr txBox="1">
            <a:spLocks/>
          </p:cNvSpPr>
          <p:nvPr/>
        </p:nvSpPr>
        <p:spPr>
          <a:xfrm>
            <a:off x="1409699" y="2835423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Binary Attributes</a:t>
            </a:r>
          </a:p>
        </p:txBody>
      </p:sp>
    </p:spTree>
    <p:extLst>
      <p:ext uri="{BB962C8B-B14F-4D97-AF65-F5344CB8AC3E}">
        <p14:creationId xmlns:p14="http://schemas.microsoft.com/office/powerpoint/2010/main" val="1550069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9"/>
          <p:cNvSpPr txBox="1">
            <a:spLocks noGrp="1"/>
          </p:cNvSpPr>
          <p:nvPr>
            <p:ph type="body" idx="1"/>
          </p:nvPr>
        </p:nvSpPr>
        <p:spPr>
          <a:xfrm>
            <a:off x="387053" y="1732734"/>
            <a:ext cx="7213897" cy="449661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257274" indent="-257274">
              <a:lnSpc>
                <a:spcPct val="130000"/>
              </a:lnSpc>
              <a:spcBef>
                <a:spcPts val="0"/>
              </a:spcBef>
              <a:buSzPts val="1100"/>
              <a:buFont typeface="Arial"/>
              <a:buChar char="•"/>
            </a:pPr>
            <a:r>
              <a:rPr lang="en-US" sz="2400" dirty="0">
                <a:latin typeface="+mn-lt"/>
              </a:rPr>
              <a:t>A contingency table for binary data</a:t>
            </a:r>
            <a:endParaRPr sz="2400" dirty="0">
              <a:latin typeface="+mn-lt"/>
            </a:endParaRPr>
          </a:p>
          <a:p>
            <a:pPr marL="257274" indent="-142974">
              <a:lnSpc>
                <a:spcPct val="130000"/>
              </a:lnSpc>
            </a:pPr>
            <a:endParaRPr sz="2400" dirty="0">
              <a:latin typeface="+mn-lt"/>
            </a:endParaRPr>
          </a:p>
          <a:p>
            <a:pPr marL="257274" indent="-142974">
              <a:lnSpc>
                <a:spcPct val="130000"/>
              </a:lnSpc>
            </a:pPr>
            <a:endParaRPr sz="2400" dirty="0">
              <a:latin typeface="+mn-lt"/>
            </a:endParaRPr>
          </a:p>
          <a:p>
            <a:pPr marL="257274" indent="-142974">
              <a:lnSpc>
                <a:spcPct val="130000"/>
              </a:lnSpc>
            </a:pPr>
            <a:endParaRPr sz="2400" dirty="0">
              <a:latin typeface="+mn-lt"/>
            </a:endParaRPr>
          </a:p>
          <a:p>
            <a:pPr marL="257274" indent="-142974">
              <a:lnSpc>
                <a:spcPct val="130000"/>
              </a:lnSpc>
            </a:pPr>
            <a:endParaRPr sz="2400" dirty="0">
              <a:latin typeface="+mn-lt"/>
            </a:endParaRPr>
          </a:p>
          <a:p>
            <a:pPr marL="557428" lvl="1" indent="-214395" algn="just">
              <a:spcBef>
                <a:spcPts val="222"/>
              </a:spcBef>
              <a:buSzPts val="700"/>
            </a:pPr>
            <a:r>
              <a:rPr lang="en-US" sz="1600" dirty="0">
                <a:latin typeface="+mn-lt"/>
              </a:rPr>
              <a:t>where </a:t>
            </a:r>
            <a:r>
              <a:rPr lang="en-US" sz="1600" i="1" dirty="0">
                <a:latin typeface="+mn-lt"/>
              </a:rPr>
              <a:t>q </a:t>
            </a:r>
            <a:r>
              <a:rPr lang="en-US" sz="1600" dirty="0">
                <a:latin typeface="+mn-lt"/>
              </a:rPr>
              <a:t>is the number of attributes that equal 1 for both objects </a:t>
            </a:r>
            <a:r>
              <a:rPr lang="en-US" sz="1600" i="1" dirty="0" err="1">
                <a:latin typeface="+mn-lt"/>
              </a:rPr>
              <a:t>i</a:t>
            </a:r>
            <a:r>
              <a:rPr lang="en-US" sz="1600" i="1" dirty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and </a:t>
            </a:r>
            <a:r>
              <a:rPr lang="en-US" sz="1600" i="1" dirty="0">
                <a:latin typeface="+mn-lt"/>
              </a:rPr>
              <a:t>j</a:t>
            </a:r>
            <a:r>
              <a:rPr lang="en-US" sz="1600" dirty="0">
                <a:latin typeface="+mn-lt"/>
              </a:rPr>
              <a:t>, </a:t>
            </a:r>
            <a:endParaRPr sz="1600" dirty="0">
              <a:latin typeface="+mn-lt"/>
            </a:endParaRPr>
          </a:p>
          <a:p>
            <a:pPr marL="557428" lvl="1" indent="-214395" algn="just">
              <a:spcBef>
                <a:spcPts val="222"/>
              </a:spcBef>
              <a:buSzPts val="700"/>
            </a:pPr>
            <a:r>
              <a:rPr lang="en-US" sz="1600" i="1" dirty="0">
                <a:latin typeface="+mn-lt"/>
              </a:rPr>
              <a:t>r </a:t>
            </a:r>
            <a:r>
              <a:rPr lang="en-US" sz="1600" dirty="0">
                <a:latin typeface="+mn-lt"/>
              </a:rPr>
              <a:t>is the number of attributes that equal 1 for object </a:t>
            </a:r>
            <a:r>
              <a:rPr lang="en-US" sz="1600" i="1" dirty="0" err="1">
                <a:latin typeface="+mn-lt"/>
              </a:rPr>
              <a:t>i</a:t>
            </a:r>
            <a:r>
              <a:rPr lang="en-US" sz="1600" i="1" dirty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but equal 0 for object </a:t>
            </a:r>
            <a:r>
              <a:rPr lang="en-US" sz="1600" i="1" dirty="0">
                <a:latin typeface="+mn-lt"/>
              </a:rPr>
              <a:t>j</a:t>
            </a:r>
            <a:r>
              <a:rPr lang="en-US" sz="1600" dirty="0">
                <a:latin typeface="+mn-lt"/>
              </a:rPr>
              <a:t>, </a:t>
            </a:r>
            <a:endParaRPr sz="1600" dirty="0">
              <a:latin typeface="+mn-lt"/>
            </a:endParaRPr>
          </a:p>
          <a:p>
            <a:pPr marL="557428" lvl="1" indent="-214395" algn="just">
              <a:spcBef>
                <a:spcPts val="222"/>
              </a:spcBef>
              <a:buSzPts val="700"/>
            </a:pPr>
            <a:r>
              <a:rPr lang="en-US" sz="1600" i="1" dirty="0">
                <a:latin typeface="+mn-lt"/>
              </a:rPr>
              <a:t>s </a:t>
            </a:r>
            <a:r>
              <a:rPr lang="en-US" sz="1600" dirty="0">
                <a:latin typeface="+mn-lt"/>
              </a:rPr>
              <a:t>is the number of attributes that equal 0 for object </a:t>
            </a:r>
            <a:r>
              <a:rPr lang="en-US" sz="1600" i="1" dirty="0" err="1">
                <a:latin typeface="+mn-lt"/>
              </a:rPr>
              <a:t>i</a:t>
            </a:r>
            <a:r>
              <a:rPr lang="en-US" sz="1600" i="1" dirty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but equal 1 for object </a:t>
            </a:r>
            <a:r>
              <a:rPr lang="en-US" sz="1600" i="1" dirty="0">
                <a:latin typeface="+mn-lt"/>
              </a:rPr>
              <a:t>j</a:t>
            </a:r>
            <a:r>
              <a:rPr lang="en-US" sz="1600" dirty="0">
                <a:latin typeface="+mn-lt"/>
              </a:rPr>
              <a:t>, </a:t>
            </a:r>
            <a:endParaRPr sz="1600" dirty="0">
              <a:latin typeface="+mn-lt"/>
            </a:endParaRPr>
          </a:p>
          <a:p>
            <a:pPr marL="557428" lvl="1" indent="-214395" algn="just">
              <a:spcBef>
                <a:spcPts val="222"/>
              </a:spcBef>
              <a:buSzPts val="700"/>
            </a:pPr>
            <a:r>
              <a:rPr lang="en-US" sz="1600" i="1" dirty="0">
                <a:latin typeface="+mn-lt"/>
              </a:rPr>
              <a:t>t </a:t>
            </a:r>
            <a:r>
              <a:rPr lang="en-US" sz="1600" dirty="0">
                <a:latin typeface="+mn-lt"/>
              </a:rPr>
              <a:t>is the number of attributes that equal 0 for both objects </a:t>
            </a:r>
            <a:r>
              <a:rPr lang="en-US" sz="1600" i="1" dirty="0" err="1">
                <a:latin typeface="+mn-lt"/>
              </a:rPr>
              <a:t>i</a:t>
            </a:r>
            <a:r>
              <a:rPr lang="en-US" sz="1600" i="1" dirty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and </a:t>
            </a:r>
            <a:r>
              <a:rPr lang="en-US" sz="1600" i="1" dirty="0">
                <a:latin typeface="+mn-lt"/>
              </a:rPr>
              <a:t>j</a:t>
            </a:r>
            <a:r>
              <a:rPr lang="en-US" sz="1600" dirty="0">
                <a:latin typeface="+mn-lt"/>
              </a:rPr>
              <a:t>. </a:t>
            </a:r>
            <a:endParaRPr sz="1600" dirty="0">
              <a:latin typeface="+mn-lt"/>
            </a:endParaRPr>
          </a:p>
          <a:p>
            <a:pPr marL="557428" lvl="1" indent="-214395" algn="just">
              <a:spcBef>
                <a:spcPts val="222"/>
              </a:spcBef>
              <a:buSzPts val="700"/>
            </a:pPr>
            <a:r>
              <a:rPr lang="en-US" sz="1600" dirty="0">
                <a:latin typeface="+mn-lt"/>
              </a:rPr>
              <a:t>The total number of attributes is </a:t>
            </a:r>
            <a:r>
              <a:rPr lang="en-US" sz="1600" i="1" dirty="0">
                <a:latin typeface="+mn-lt"/>
              </a:rPr>
              <a:t>p</a:t>
            </a:r>
            <a:r>
              <a:rPr lang="en-US" sz="1600" dirty="0">
                <a:latin typeface="+mn-lt"/>
              </a:rPr>
              <a:t>, where </a:t>
            </a:r>
            <a:r>
              <a:rPr lang="en-US" sz="1600" i="1" dirty="0">
                <a:latin typeface="+mn-lt"/>
              </a:rPr>
              <a:t>p </a:t>
            </a:r>
            <a:r>
              <a:rPr lang="en-US" sz="1600" dirty="0">
                <a:latin typeface="+mn-lt"/>
              </a:rPr>
              <a:t>= </a:t>
            </a:r>
            <a:r>
              <a:rPr lang="en-US" sz="1600" i="1" dirty="0" err="1">
                <a:latin typeface="+mn-lt"/>
              </a:rPr>
              <a:t>q</a:t>
            </a:r>
            <a:r>
              <a:rPr lang="en-US" sz="1600" dirty="0" err="1">
                <a:latin typeface="+mn-lt"/>
              </a:rPr>
              <a:t>+</a:t>
            </a:r>
            <a:r>
              <a:rPr lang="en-US" sz="1600" i="1" dirty="0" err="1">
                <a:latin typeface="+mn-lt"/>
              </a:rPr>
              <a:t>r+s+t</a:t>
            </a:r>
            <a:r>
              <a:rPr lang="en-US" sz="1600" i="1" dirty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.</a:t>
            </a:r>
            <a:endParaRPr sz="1600" dirty="0">
              <a:latin typeface="+mn-lt"/>
            </a:endParaRPr>
          </a:p>
          <a:p>
            <a:pPr marL="257274" indent="-142974">
              <a:lnSpc>
                <a:spcPct val="130000"/>
              </a:lnSpc>
            </a:pPr>
            <a:endParaRPr sz="2400" dirty="0">
              <a:latin typeface="+mn-lt"/>
            </a:endParaRPr>
          </a:p>
        </p:txBody>
      </p:sp>
      <p:pic>
        <p:nvPicPr>
          <p:cNvPr id="808" name="Google Shape;808;p19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13587" y="2399794"/>
            <a:ext cx="5421179" cy="168249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43;p10">
            <a:extLst>
              <a:ext uri="{FF2B5EF4-FFF2-40B4-BE49-F238E27FC236}">
                <a16:creationId xmlns:a16="http://schemas.microsoft.com/office/drawing/2014/main" id="{F6B5849A-1DF8-55BD-8554-A0B9442D5C43}"/>
              </a:ext>
            </a:extLst>
          </p:cNvPr>
          <p:cNvSpPr txBox="1">
            <a:spLocks/>
          </p:cNvSpPr>
          <p:nvPr/>
        </p:nvSpPr>
        <p:spPr>
          <a:xfrm>
            <a:off x="214624" y="628650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Binary Attributes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Google Shape;814;p20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" y="2033920"/>
            <a:ext cx="9020987" cy="361035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43;p10">
            <a:extLst>
              <a:ext uri="{FF2B5EF4-FFF2-40B4-BE49-F238E27FC236}">
                <a16:creationId xmlns:a16="http://schemas.microsoft.com/office/drawing/2014/main" id="{E3ACC2C0-5F97-BA4F-43E1-F3EDD65BC2C8}"/>
              </a:ext>
            </a:extLst>
          </p:cNvPr>
          <p:cNvSpPr txBox="1">
            <a:spLocks/>
          </p:cNvSpPr>
          <p:nvPr/>
        </p:nvSpPr>
        <p:spPr>
          <a:xfrm>
            <a:off x="214624" y="628650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Binary Attributes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p21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711" y="1946222"/>
            <a:ext cx="8836577" cy="340004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43;p10">
            <a:extLst>
              <a:ext uri="{FF2B5EF4-FFF2-40B4-BE49-F238E27FC236}">
                <a16:creationId xmlns:a16="http://schemas.microsoft.com/office/drawing/2014/main" id="{DBBADC36-81BE-E950-A37F-D19941838242}"/>
              </a:ext>
            </a:extLst>
          </p:cNvPr>
          <p:cNvSpPr txBox="1">
            <a:spLocks/>
          </p:cNvSpPr>
          <p:nvPr/>
        </p:nvSpPr>
        <p:spPr>
          <a:xfrm>
            <a:off x="214624" y="628650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Binary Attributes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6" name="Google Shape;826;p22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069" y="2239104"/>
            <a:ext cx="8795861" cy="255879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43;p10">
            <a:extLst>
              <a:ext uri="{FF2B5EF4-FFF2-40B4-BE49-F238E27FC236}">
                <a16:creationId xmlns:a16="http://schemas.microsoft.com/office/drawing/2014/main" id="{67A4BB73-6074-2FAA-1B61-15DF42AD0B42}"/>
              </a:ext>
            </a:extLst>
          </p:cNvPr>
          <p:cNvSpPr txBox="1">
            <a:spLocks/>
          </p:cNvSpPr>
          <p:nvPr/>
        </p:nvSpPr>
        <p:spPr>
          <a:xfrm>
            <a:off x="214624" y="628650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Binary Attributes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23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624" y="1818828"/>
            <a:ext cx="8851316" cy="406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43;p10">
            <a:extLst>
              <a:ext uri="{FF2B5EF4-FFF2-40B4-BE49-F238E27FC236}">
                <a16:creationId xmlns:a16="http://schemas.microsoft.com/office/drawing/2014/main" id="{B61271BB-C495-7268-CDD3-825A18032B9F}"/>
              </a:ext>
            </a:extLst>
          </p:cNvPr>
          <p:cNvSpPr txBox="1">
            <a:spLocks/>
          </p:cNvSpPr>
          <p:nvPr/>
        </p:nvSpPr>
        <p:spPr>
          <a:xfrm>
            <a:off x="214624" y="628650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Binary Attributes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Jaccard Distance/Similarity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idx="1"/>
          </p:nvPr>
        </p:nvSpPr>
        <p:spPr>
          <a:xfrm>
            <a:off x="441960" y="1484586"/>
            <a:ext cx="78867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For each application, we first need to define what “</a:t>
            </a:r>
            <a:r>
              <a:rPr lang="en-US" sz="2400" b="1" dirty="0"/>
              <a:t>distance</a:t>
            </a:r>
            <a:r>
              <a:rPr lang="en-US" sz="2400" dirty="0"/>
              <a:t>” means. </a:t>
            </a:r>
          </a:p>
          <a:p>
            <a:r>
              <a:rPr lang="en-US" sz="2400" dirty="0"/>
              <a:t>Jaccard measures work with sets.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Jaccard distance/similarity</a:t>
            </a:r>
          </a:p>
          <a:p>
            <a:pPr lvl="1"/>
            <a:r>
              <a:rPr lang="en-US" sz="2000" dirty="0"/>
              <a:t>The </a:t>
            </a:r>
            <a:r>
              <a:rPr lang="en-US" sz="2000" b="1" dirty="0" err="1">
                <a:solidFill>
                  <a:srgbClr val="FF0066"/>
                </a:solidFill>
              </a:rPr>
              <a:t>Jaccard</a:t>
            </a:r>
            <a:r>
              <a:rPr lang="en-US" sz="2000" b="1" dirty="0">
                <a:solidFill>
                  <a:srgbClr val="FF0066"/>
                </a:solidFill>
              </a:rPr>
              <a:t> similarity</a:t>
            </a:r>
            <a:r>
              <a:rPr lang="en-US" sz="2000" i="1" dirty="0">
                <a:solidFill>
                  <a:srgbClr val="FF0066"/>
                </a:solidFill>
              </a:rPr>
              <a:t> </a:t>
            </a:r>
            <a:r>
              <a:rPr lang="en-US" sz="2000" dirty="0"/>
              <a:t>of two </a:t>
            </a:r>
            <a:r>
              <a:rPr lang="en-US" sz="2000" b="1" dirty="0">
                <a:solidFill>
                  <a:srgbClr val="FF0066"/>
                </a:solidFill>
              </a:rPr>
              <a:t>sets</a:t>
            </a:r>
            <a:r>
              <a:rPr lang="en-US" sz="2000" dirty="0">
                <a:solidFill>
                  <a:srgbClr val="FF0066"/>
                </a:solidFill>
              </a:rPr>
              <a:t> </a:t>
            </a:r>
            <a:r>
              <a:rPr lang="en-US" sz="2000" dirty="0"/>
              <a:t>is the size of their intersection divided by the size of their union:</a:t>
            </a:r>
            <a:br>
              <a:rPr lang="en-US" sz="2000" dirty="0"/>
            </a:br>
            <a:r>
              <a:rPr lang="en-US" sz="2000" b="1" i="1" dirty="0" err="1"/>
              <a:t>sim</a:t>
            </a:r>
            <a:r>
              <a:rPr lang="en-US" sz="2000" b="1" dirty="0"/>
              <a:t>(C</a:t>
            </a:r>
            <a:r>
              <a:rPr lang="en-US" sz="2000" b="1" baseline="-25000" dirty="0"/>
              <a:t>1</a:t>
            </a:r>
            <a:r>
              <a:rPr lang="en-US" sz="2000" b="1" dirty="0"/>
              <a:t>, C</a:t>
            </a:r>
            <a:r>
              <a:rPr lang="en-US" sz="2000" b="1" baseline="-25000" dirty="0"/>
              <a:t>2</a:t>
            </a:r>
            <a:r>
              <a:rPr lang="en-US" sz="2000" b="1" dirty="0"/>
              <a:t>) = |C</a:t>
            </a:r>
            <a:r>
              <a:rPr lang="en-US" sz="2000" b="1" baseline="-25000" dirty="0"/>
              <a:t>1</a:t>
            </a:r>
            <a:r>
              <a:rPr lang="en-US" sz="2000" b="1" dirty="0">
                <a:sym typeface="Symbol" pitchFamily="18" charset="2"/>
              </a:rPr>
              <a:t>C</a:t>
            </a:r>
            <a:r>
              <a:rPr lang="en-US" sz="2000" b="1" baseline="-25000" dirty="0">
                <a:sym typeface="Symbol" pitchFamily="18" charset="2"/>
              </a:rPr>
              <a:t>2</a:t>
            </a:r>
            <a:r>
              <a:rPr lang="en-US" sz="2000" b="1" dirty="0">
                <a:sym typeface="Symbol" pitchFamily="18" charset="2"/>
              </a:rPr>
              <a:t>|/|C</a:t>
            </a:r>
            <a:r>
              <a:rPr lang="en-US" sz="2000" b="1" baseline="-25000" dirty="0">
                <a:sym typeface="Symbol" pitchFamily="18" charset="2"/>
              </a:rPr>
              <a:t>1</a:t>
            </a:r>
            <a:r>
              <a:rPr lang="en-US" sz="2000" b="1" dirty="0">
                <a:sym typeface="Symbol" pitchFamily="18" charset="2"/>
              </a:rPr>
              <a:t>C</a:t>
            </a:r>
            <a:r>
              <a:rPr lang="en-US" sz="2000" b="1" baseline="-25000" dirty="0">
                <a:sym typeface="Symbol" pitchFamily="18" charset="2"/>
              </a:rPr>
              <a:t>2</a:t>
            </a:r>
            <a:r>
              <a:rPr lang="en-US" sz="2000" b="1" dirty="0">
                <a:sym typeface="Symbol" pitchFamily="18" charset="2"/>
              </a:rPr>
              <a:t>|</a:t>
            </a:r>
          </a:p>
          <a:p>
            <a:pPr lvl="1"/>
            <a:r>
              <a:rPr lang="en-US" sz="2000" b="1" dirty="0" err="1">
                <a:solidFill>
                  <a:srgbClr val="FF0066"/>
                </a:solidFill>
              </a:rPr>
              <a:t>Jaccard</a:t>
            </a:r>
            <a:r>
              <a:rPr lang="en-US" sz="2000" b="1" dirty="0">
                <a:solidFill>
                  <a:srgbClr val="FF0066"/>
                </a:solidFill>
              </a:rPr>
              <a:t> distance:</a:t>
            </a:r>
            <a:r>
              <a:rPr lang="en-US" sz="2000" b="1" i="1" dirty="0"/>
              <a:t> d</a:t>
            </a:r>
            <a:r>
              <a:rPr lang="en-US" sz="2000" b="1" dirty="0"/>
              <a:t>(C</a:t>
            </a:r>
            <a:r>
              <a:rPr lang="en-US" sz="2000" b="1" baseline="-25000" dirty="0"/>
              <a:t>1</a:t>
            </a:r>
            <a:r>
              <a:rPr lang="en-US" sz="2000" b="1" dirty="0"/>
              <a:t>, C</a:t>
            </a:r>
            <a:r>
              <a:rPr lang="en-US" sz="2000" b="1" baseline="-25000" dirty="0"/>
              <a:t>2</a:t>
            </a:r>
            <a:r>
              <a:rPr lang="en-US" sz="2000" b="1" dirty="0"/>
              <a:t>) = 1 - |C</a:t>
            </a:r>
            <a:r>
              <a:rPr lang="en-US" sz="2000" b="1" baseline="-25000" dirty="0"/>
              <a:t>1</a:t>
            </a:r>
            <a:r>
              <a:rPr lang="en-US" sz="2000" b="1" dirty="0">
                <a:sym typeface="Symbol" pitchFamily="18" charset="2"/>
              </a:rPr>
              <a:t>C</a:t>
            </a:r>
            <a:r>
              <a:rPr lang="en-US" sz="2000" b="1" baseline="-25000" dirty="0">
                <a:sym typeface="Symbol" pitchFamily="18" charset="2"/>
              </a:rPr>
              <a:t>2</a:t>
            </a:r>
            <a:r>
              <a:rPr lang="en-US" sz="2000" b="1" dirty="0">
                <a:sym typeface="Symbol" pitchFamily="18" charset="2"/>
              </a:rPr>
              <a:t>|/|C</a:t>
            </a:r>
            <a:r>
              <a:rPr lang="en-US" sz="2000" b="1" baseline="-25000" dirty="0">
                <a:sym typeface="Symbol" pitchFamily="18" charset="2"/>
              </a:rPr>
              <a:t>1</a:t>
            </a:r>
            <a:r>
              <a:rPr lang="en-US" sz="2000" b="1" dirty="0">
                <a:sym typeface="Symbol" pitchFamily="18" charset="2"/>
              </a:rPr>
              <a:t>C</a:t>
            </a:r>
            <a:r>
              <a:rPr lang="en-US" sz="2000" b="1" baseline="-25000" dirty="0">
                <a:sym typeface="Symbol" pitchFamily="18" charset="2"/>
              </a:rPr>
              <a:t>2</a:t>
            </a:r>
            <a:r>
              <a:rPr lang="en-US" sz="2000" b="1" dirty="0">
                <a:sym typeface="Symbol" pitchFamily="18" charset="2"/>
              </a:rPr>
              <a:t>|</a:t>
            </a:r>
            <a:endParaRPr lang="en-US" sz="2000" b="1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969576" y="6386284"/>
            <a:ext cx="2133600" cy="211460"/>
          </a:xfrm>
        </p:spPr>
        <p:txBody>
          <a:bodyPr/>
          <a:lstStyle/>
          <a:p>
            <a:fld id="{19B12225-5612-419B-A8D5-4B8EEE4C217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294967295"/>
          </p:nvPr>
        </p:nvSpPr>
        <p:spPr>
          <a:xfrm>
            <a:off x="2000250" y="6386382"/>
            <a:ext cx="5052060" cy="211460"/>
          </a:xfrm>
        </p:spPr>
        <p:txBody>
          <a:bodyPr/>
          <a:lstStyle/>
          <a:p>
            <a:r>
              <a:rPr lang="en-US" dirty="0"/>
              <a:t>J. </a:t>
            </a:r>
            <a:r>
              <a:rPr lang="en-US" dirty="0" err="1"/>
              <a:t>Leskovec</a:t>
            </a:r>
            <a:r>
              <a:rPr lang="en-US" dirty="0"/>
              <a:t>, A. Rajaraman, J. Ullman: Mining of Massive Datasets, http://www.mmds.org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4552908" y="4430851"/>
            <a:ext cx="249940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3 in intersection</a:t>
            </a:r>
          </a:p>
          <a:p>
            <a:pPr eaLnBrk="0" hangingPunct="0"/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8 in union</a:t>
            </a:r>
          </a:p>
          <a:p>
            <a:pPr eaLnBrk="0" hangingPunct="0"/>
            <a:r>
              <a:rPr lang="en-US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Jaccard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similarity= 3/8</a:t>
            </a:r>
          </a:p>
          <a:p>
            <a:pPr eaLnBrk="0" hangingPunct="0"/>
            <a:r>
              <a:rPr lang="en-US" dirty="0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Jaccard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distance = 5/8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099310" y="4564380"/>
            <a:ext cx="2286000" cy="990600"/>
            <a:chOff x="3124200" y="1371600"/>
            <a:chExt cx="2667000" cy="1600200"/>
          </a:xfrm>
        </p:grpSpPr>
        <p:sp>
          <p:nvSpPr>
            <p:cNvPr id="9" name="Oval 3"/>
            <p:cNvSpPr>
              <a:spLocks noChangeArrowheads="1"/>
            </p:cNvSpPr>
            <p:nvPr/>
          </p:nvSpPr>
          <p:spPr bwMode="auto">
            <a:xfrm>
              <a:off x="3810000" y="1371600"/>
              <a:ext cx="1981200" cy="1600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4"/>
            <p:cNvSpPr>
              <a:spLocks noChangeArrowheads="1"/>
            </p:cNvSpPr>
            <p:nvPr/>
          </p:nvSpPr>
          <p:spPr bwMode="auto">
            <a:xfrm>
              <a:off x="3124200" y="1371600"/>
              <a:ext cx="1981200" cy="1600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Oval 5"/>
            <p:cNvSpPr>
              <a:spLocks noChangeArrowheads="1"/>
            </p:cNvSpPr>
            <p:nvPr/>
          </p:nvSpPr>
          <p:spPr bwMode="auto">
            <a:xfrm>
              <a:off x="3505200" y="1839351"/>
              <a:ext cx="106680" cy="147711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6"/>
            <p:cNvSpPr>
              <a:spLocks noChangeArrowheads="1"/>
            </p:cNvSpPr>
            <p:nvPr/>
          </p:nvSpPr>
          <p:spPr bwMode="auto">
            <a:xfrm>
              <a:off x="3479800" y="2356338"/>
              <a:ext cx="106680" cy="147711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7"/>
            <p:cNvSpPr>
              <a:spLocks noChangeArrowheads="1"/>
            </p:cNvSpPr>
            <p:nvPr/>
          </p:nvSpPr>
          <p:spPr bwMode="auto">
            <a:xfrm>
              <a:off x="4173220" y="1987062"/>
              <a:ext cx="106680" cy="147711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Oval 8"/>
            <p:cNvSpPr>
              <a:spLocks noChangeArrowheads="1"/>
            </p:cNvSpPr>
            <p:nvPr/>
          </p:nvSpPr>
          <p:spPr bwMode="auto">
            <a:xfrm>
              <a:off x="4635500" y="2280138"/>
              <a:ext cx="106680" cy="147711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Oval 9"/>
            <p:cNvSpPr>
              <a:spLocks noChangeArrowheads="1"/>
            </p:cNvSpPr>
            <p:nvPr/>
          </p:nvSpPr>
          <p:spPr bwMode="auto">
            <a:xfrm>
              <a:off x="4546600" y="1670537"/>
              <a:ext cx="106680" cy="147711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Oval 11"/>
            <p:cNvSpPr>
              <a:spLocks noChangeArrowheads="1"/>
            </p:cNvSpPr>
            <p:nvPr/>
          </p:nvSpPr>
          <p:spPr bwMode="auto">
            <a:xfrm>
              <a:off x="5257800" y="2479431"/>
              <a:ext cx="106680" cy="147711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Oval 12"/>
            <p:cNvSpPr>
              <a:spLocks noChangeArrowheads="1"/>
            </p:cNvSpPr>
            <p:nvPr/>
          </p:nvSpPr>
          <p:spPr bwMode="auto">
            <a:xfrm>
              <a:off x="5257800" y="1676399"/>
              <a:ext cx="106680" cy="147711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" name="Oval 6"/>
          <p:cNvSpPr>
            <a:spLocks noChangeArrowheads="1"/>
          </p:cNvSpPr>
          <p:nvPr/>
        </p:nvSpPr>
        <p:spPr bwMode="auto">
          <a:xfrm>
            <a:off x="2589561" y="5337427"/>
            <a:ext cx="91440" cy="9144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130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5" name="Google Shape;845;p25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009" y="1902354"/>
            <a:ext cx="8537982" cy="37880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43;p10">
            <a:extLst>
              <a:ext uri="{FF2B5EF4-FFF2-40B4-BE49-F238E27FC236}">
                <a16:creationId xmlns:a16="http://schemas.microsoft.com/office/drawing/2014/main" id="{9CE06714-3E85-E7C2-6CA7-95483FB0FBCC}"/>
              </a:ext>
            </a:extLst>
          </p:cNvPr>
          <p:cNvSpPr txBox="1">
            <a:spLocks/>
          </p:cNvSpPr>
          <p:nvPr/>
        </p:nvSpPr>
        <p:spPr>
          <a:xfrm>
            <a:off x="214624" y="628650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Binary Attributes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26"/>
          <p:cNvSpPr txBox="1">
            <a:spLocks noGrp="1"/>
          </p:cNvSpPr>
          <p:nvPr>
            <p:ph type="body" idx="1"/>
          </p:nvPr>
        </p:nvSpPr>
        <p:spPr>
          <a:xfrm>
            <a:off x="242244" y="1704927"/>
            <a:ext cx="6699547" cy="36881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257274" indent="-257274">
              <a:lnSpc>
                <a:spcPct val="130000"/>
              </a:lnSpc>
              <a:spcBef>
                <a:spcPts val="0"/>
              </a:spcBef>
              <a:buSzPts val="1100"/>
              <a:buFont typeface="Arial"/>
              <a:buChar char="•"/>
            </a:pPr>
            <a:r>
              <a:rPr lang="en-US" sz="2400" dirty="0">
                <a:latin typeface="+mn-lt"/>
              </a:rPr>
              <a:t>Distance measure for symmetric binary variables, dissimilarity: </a:t>
            </a:r>
            <a:endParaRPr sz="2400" dirty="0">
              <a:latin typeface="+mn-lt"/>
            </a:endParaRPr>
          </a:p>
          <a:p>
            <a:pPr marL="257274" indent="-257274">
              <a:lnSpc>
                <a:spcPct val="130000"/>
              </a:lnSpc>
              <a:spcBef>
                <a:spcPts val="349"/>
              </a:spcBef>
              <a:buSzPts val="1100"/>
              <a:buFont typeface="Arial"/>
              <a:buChar char="•"/>
            </a:pPr>
            <a:r>
              <a:rPr lang="en-US" sz="2400" dirty="0">
                <a:latin typeface="+mn-lt"/>
              </a:rPr>
              <a:t>Distance measure for asymmetric binary variables, dissimilarity: </a:t>
            </a:r>
            <a:endParaRPr sz="2400" dirty="0">
              <a:latin typeface="+mn-lt"/>
            </a:endParaRPr>
          </a:p>
          <a:p>
            <a:pPr marL="257274" indent="-142974">
              <a:lnSpc>
                <a:spcPct val="130000"/>
              </a:lnSpc>
            </a:pPr>
            <a:endParaRPr sz="2400" dirty="0">
              <a:latin typeface="+mn-lt"/>
            </a:endParaRPr>
          </a:p>
          <a:p>
            <a:pPr marL="257274" indent="-257274">
              <a:spcBef>
                <a:spcPts val="349"/>
              </a:spcBef>
              <a:buSzPts val="1100"/>
              <a:buFont typeface="Arial"/>
              <a:buChar char="•"/>
            </a:pPr>
            <a:r>
              <a:rPr lang="en-US" sz="2400" dirty="0">
                <a:latin typeface="+mn-lt"/>
              </a:rPr>
              <a:t>Similarity between Asymmetric binary values is given by Jaccard coefficient:</a:t>
            </a:r>
            <a:endParaRPr sz="2400" dirty="0">
              <a:latin typeface="+mn-lt"/>
            </a:endParaRPr>
          </a:p>
          <a:p>
            <a:pPr marL="257274" indent="-142974"/>
            <a:endParaRPr sz="2400" dirty="0">
              <a:latin typeface="+mn-lt"/>
            </a:endParaRPr>
          </a:p>
        </p:txBody>
      </p:sp>
      <p:pic>
        <p:nvPicPr>
          <p:cNvPr id="852" name="Google Shape;85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5838" y="2178526"/>
            <a:ext cx="2117588" cy="593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1252" y="3231940"/>
            <a:ext cx="1886760" cy="593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26963" y="4806111"/>
            <a:ext cx="3086463" cy="9471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43;p10">
            <a:extLst>
              <a:ext uri="{FF2B5EF4-FFF2-40B4-BE49-F238E27FC236}">
                <a16:creationId xmlns:a16="http://schemas.microsoft.com/office/drawing/2014/main" id="{6CF09112-EA13-EEB8-744B-3161A22878C9}"/>
              </a:ext>
            </a:extLst>
          </p:cNvPr>
          <p:cNvSpPr txBox="1">
            <a:spLocks/>
          </p:cNvSpPr>
          <p:nvPr/>
        </p:nvSpPr>
        <p:spPr>
          <a:xfrm>
            <a:off x="214624" y="628650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Binary Attributes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27"/>
          <p:cNvSpPr txBox="1">
            <a:spLocks noGrp="1"/>
          </p:cNvSpPr>
          <p:nvPr>
            <p:ph type="body" idx="1"/>
          </p:nvPr>
        </p:nvSpPr>
        <p:spPr>
          <a:xfrm>
            <a:off x="1370033" y="1976918"/>
            <a:ext cx="6175221" cy="166199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0" indent="0" algn="just">
              <a:spcBef>
                <a:spcPts val="0"/>
              </a:spcBef>
              <a:buSzPts val="1100"/>
            </a:pPr>
            <a:r>
              <a:rPr lang="en-US"/>
              <a:t>Suppose that a patient record table contains the attributes </a:t>
            </a:r>
            <a:r>
              <a:rPr lang="en-US" i="1"/>
              <a:t>name, gender, fever, cough, test-1, test-2, test-3</a:t>
            </a:r>
            <a:r>
              <a:rPr lang="en-US"/>
              <a:t>, and </a:t>
            </a:r>
            <a:r>
              <a:rPr lang="en-US" i="1"/>
              <a:t>test-4</a:t>
            </a:r>
            <a:r>
              <a:rPr lang="en-US"/>
              <a:t>, where </a:t>
            </a:r>
            <a:r>
              <a:rPr lang="en-US" i="1"/>
              <a:t>name </a:t>
            </a:r>
            <a:r>
              <a:rPr lang="en-US"/>
              <a:t>is an object identifier, </a:t>
            </a:r>
            <a:r>
              <a:rPr lang="en-US" i="1"/>
              <a:t>gender </a:t>
            </a:r>
            <a:r>
              <a:rPr lang="en-US"/>
              <a:t>is a symmetric attribute, and the remaining attributes are asymmetric binary. Compute the dissimilarity matrix for asymmetric binary attributes</a:t>
            </a:r>
            <a:endParaRPr/>
          </a:p>
        </p:txBody>
      </p:sp>
      <p:sp>
        <p:nvSpPr>
          <p:cNvPr id="860" name="Google Shape;860;p27"/>
          <p:cNvSpPr txBox="1">
            <a:spLocks noGrp="1"/>
          </p:cNvSpPr>
          <p:nvPr>
            <p:ph type="body" idx="2"/>
          </p:nvPr>
        </p:nvSpPr>
        <p:spPr>
          <a:xfrm>
            <a:off x="214624" y="1345351"/>
            <a:ext cx="6324601" cy="43016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/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sz="2696" b="0" cap="small" dirty="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2696" b="0" cap="small" dirty="0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1" name="Google Shape;86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1819" y="3714890"/>
            <a:ext cx="5983436" cy="138656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43;p10">
            <a:extLst>
              <a:ext uri="{FF2B5EF4-FFF2-40B4-BE49-F238E27FC236}">
                <a16:creationId xmlns:a16="http://schemas.microsoft.com/office/drawing/2014/main" id="{E6C746C2-76B7-0289-2C82-42F0584AA325}"/>
              </a:ext>
            </a:extLst>
          </p:cNvPr>
          <p:cNvSpPr txBox="1">
            <a:spLocks/>
          </p:cNvSpPr>
          <p:nvPr/>
        </p:nvSpPr>
        <p:spPr>
          <a:xfrm>
            <a:off x="214624" y="628650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Binary Attributes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" name="Google Shape;86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0278" y="2850072"/>
            <a:ext cx="3087611" cy="1985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04840" y="3346807"/>
            <a:ext cx="1986935" cy="993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50043" y="2104379"/>
            <a:ext cx="2015524" cy="1036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79823" y="4546354"/>
            <a:ext cx="2036966" cy="1000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2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0525" y="1910202"/>
            <a:ext cx="4126201" cy="85769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60;p27">
            <a:extLst>
              <a:ext uri="{FF2B5EF4-FFF2-40B4-BE49-F238E27FC236}">
                <a16:creationId xmlns:a16="http://schemas.microsoft.com/office/drawing/2014/main" id="{61BBDB44-B154-74C2-E355-ECB7BC48FC05}"/>
              </a:ext>
            </a:extLst>
          </p:cNvPr>
          <p:cNvSpPr txBox="1">
            <a:spLocks/>
          </p:cNvSpPr>
          <p:nvPr/>
        </p:nvSpPr>
        <p:spPr>
          <a:xfrm>
            <a:off x="214624" y="1345351"/>
            <a:ext cx="6324601" cy="43016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sz="2696" b="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lang="en-US" sz="2696" b="0" cap="small" dirty="0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743;p10">
            <a:extLst>
              <a:ext uri="{FF2B5EF4-FFF2-40B4-BE49-F238E27FC236}">
                <a16:creationId xmlns:a16="http://schemas.microsoft.com/office/drawing/2014/main" id="{1E7E826E-B769-0AC3-4106-06D82B8761D9}"/>
              </a:ext>
            </a:extLst>
          </p:cNvPr>
          <p:cNvSpPr txBox="1">
            <a:spLocks/>
          </p:cNvSpPr>
          <p:nvPr/>
        </p:nvSpPr>
        <p:spPr>
          <a:xfrm>
            <a:off x="214624" y="628650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Binary Attributes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43;p10">
            <a:extLst>
              <a:ext uri="{FF2B5EF4-FFF2-40B4-BE49-F238E27FC236}">
                <a16:creationId xmlns:a16="http://schemas.microsoft.com/office/drawing/2014/main" id="{26BAF040-2DB0-D901-F7A7-F7F535158030}"/>
              </a:ext>
            </a:extLst>
          </p:cNvPr>
          <p:cNvSpPr txBox="1">
            <a:spLocks/>
          </p:cNvSpPr>
          <p:nvPr/>
        </p:nvSpPr>
        <p:spPr>
          <a:xfrm>
            <a:off x="1409699" y="2835423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Numeric Attributes</a:t>
            </a:r>
          </a:p>
        </p:txBody>
      </p:sp>
    </p:spTree>
    <p:extLst>
      <p:ext uri="{BB962C8B-B14F-4D97-AF65-F5344CB8AC3E}">
        <p14:creationId xmlns:p14="http://schemas.microsoft.com/office/powerpoint/2010/main" val="3065350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9"/>
          <p:cNvSpPr txBox="1">
            <a:spLocks noGrp="1"/>
          </p:cNvSpPr>
          <p:nvPr>
            <p:ph type="body" idx="1"/>
          </p:nvPr>
        </p:nvSpPr>
        <p:spPr>
          <a:xfrm>
            <a:off x="1370033" y="1976919"/>
            <a:ext cx="6175221" cy="9335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257274" indent="-257274">
              <a:spcBef>
                <a:spcPts val="0"/>
              </a:spcBef>
            </a:pPr>
            <a:endParaRPr b="1"/>
          </a:p>
          <a:p>
            <a:pPr marL="285860" indent="-285860"/>
            <a:endParaRPr b="1"/>
          </a:p>
          <a:p>
            <a:pPr marL="285860" indent="-285860"/>
            <a:endParaRPr/>
          </a:p>
        </p:txBody>
      </p:sp>
      <p:pic>
        <p:nvPicPr>
          <p:cNvPr id="878" name="Google Shape;878;p29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361" y="1701545"/>
            <a:ext cx="8704563" cy="39994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43;p10">
            <a:extLst>
              <a:ext uri="{FF2B5EF4-FFF2-40B4-BE49-F238E27FC236}">
                <a16:creationId xmlns:a16="http://schemas.microsoft.com/office/drawing/2014/main" id="{4BE7FBDA-8EF1-4AF1-A9AE-3F8E07257E45}"/>
              </a:ext>
            </a:extLst>
          </p:cNvPr>
          <p:cNvSpPr txBox="1">
            <a:spLocks/>
          </p:cNvSpPr>
          <p:nvPr/>
        </p:nvSpPr>
        <p:spPr>
          <a:xfrm>
            <a:off x="403859" y="698013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Numeric Attributes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30"/>
          <p:cNvSpPr txBox="1">
            <a:spLocks noGrp="1"/>
          </p:cNvSpPr>
          <p:nvPr>
            <p:ph type="body" idx="1"/>
          </p:nvPr>
        </p:nvSpPr>
        <p:spPr>
          <a:xfrm>
            <a:off x="1370033" y="1976919"/>
            <a:ext cx="6175221" cy="9335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257274" indent="-257274">
              <a:spcBef>
                <a:spcPts val="0"/>
              </a:spcBef>
            </a:pPr>
            <a:endParaRPr b="1"/>
          </a:p>
          <a:p>
            <a:pPr marL="285860" indent="-285860"/>
            <a:endParaRPr b="1"/>
          </a:p>
          <a:p>
            <a:pPr marL="285860" indent="-285860"/>
            <a:endParaRPr/>
          </a:p>
        </p:txBody>
      </p:sp>
      <p:pic>
        <p:nvPicPr>
          <p:cNvPr id="885" name="Google Shape;885;p30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897" y="1713808"/>
            <a:ext cx="8861064" cy="39994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43;p10">
            <a:extLst>
              <a:ext uri="{FF2B5EF4-FFF2-40B4-BE49-F238E27FC236}">
                <a16:creationId xmlns:a16="http://schemas.microsoft.com/office/drawing/2014/main" id="{0C01B20F-4200-1CA7-6076-72299FD3FD47}"/>
              </a:ext>
            </a:extLst>
          </p:cNvPr>
          <p:cNvSpPr txBox="1">
            <a:spLocks/>
          </p:cNvSpPr>
          <p:nvPr/>
        </p:nvSpPr>
        <p:spPr>
          <a:xfrm>
            <a:off x="403859" y="698013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Numeric Attributes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1"/>
          <p:cNvSpPr txBox="1">
            <a:spLocks noGrp="1"/>
          </p:cNvSpPr>
          <p:nvPr>
            <p:ph type="body" idx="1"/>
          </p:nvPr>
        </p:nvSpPr>
        <p:spPr>
          <a:xfrm>
            <a:off x="1370033" y="1976919"/>
            <a:ext cx="6175221" cy="9335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257274" indent="-257274">
              <a:spcBef>
                <a:spcPts val="0"/>
              </a:spcBef>
            </a:pPr>
            <a:endParaRPr b="1"/>
          </a:p>
          <a:p>
            <a:pPr marL="285860" indent="-285860"/>
            <a:endParaRPr b="1"/>
          </a:p>
          <a:p>
            <a:pPr marL="285860" indent="-285860"/>
            <a:endParaRPr/>
          </a:p>
        </p:txBody>
      </p:sp>
      <p:pic>
        <p:nvPicPr>
          <p:cNvPr id="892" name="Google Shape;892;p31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968" y="1665353"/>
            <a:ext cx="8138212" cy="40327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43;p10">
            <a:extLst>
              <a:ext uri="{FF2B5EF4-FFF2-40B4-BE49-F238E27FC236}">
                <a16:creationId xmlns:a16="http://schemas.microsoft.com/office/drawing/2014/main" id="{2521EC1C-94BE-4EB9-B603-786E1DA973B5}"/>
              </a:ext>
            </a:extLst>
          </p:cNvPr>
          <p:cNvSpPr txBox="1">
            <a:spLocks/>
          </p:cNvSpPr>
          <p:nvPr/>
        </p:nvSpPr>
        <p:spPr>
          <a:xfrm>
            <a:off x="403859" y="698013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Numeric Attributes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2"/>
          <p:cNvSpPr txBox="1">
            <a:spLocks noGrp="1"/>
          </p:cNvSpPr>
          <p:nvPr>
            <p:ph type="body" idx="1"/>
          </p:nvPr>
        </p:nvSpPr>
        <p:spPr>
          <a:xfrm>
            <a:off x="1370033" y="1976919"/>
            <a:ext cx="6175221" cy="9335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257274" indent="-257274">
              <a:spcBef>
                <a:spcPts val="0"/>
              </a:spcBef>
            </a:pPr>
            <a:endParaRPr b="1"/>
          </a:p>
          <a:p>
            <a:pPr marL="285860" indent="-285860"/>
            <a:endParaRPr b="1"/>
          </a:p>
          <a:p>
            <a:pPr marL="285860" indent="-285860"/>
            <a:endParaRPr/>
          </a:p>
        </p:txBody>
      </p:sp>
      <p:pic>
        <p:nvPicPr>
          <p:cNvPr id="899" name="Google Shape;899;p32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258" y="1764141"/>
            <a:ext cx="8769574" cy="399942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43;p10">
            <a:extLst>
              <a:ext uri="{FF2B5EF4-FFF2-40B4-BE49-F238E27FC236}">
                <a16:creationId xmlns:a16="http://schemas.microsoft.com/office/drawing/2014/main" id="{F5CE47D0-D34F-C869-268A-871B06F8AF25}"/>
              </a:ext>
            </a:extLst>
          </p:cNvPr>
          <p:cNvSpPr txBox="1">
            <a:spLocks/>
          </p:cNvSpPr>
          <p:nvPr/>
        </p:nvSpPr>
        <p:spPr>
          <a:xfrm>
            <a:off x="403859" y="698013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Numeric Attributes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3"/>
          <p:cNvSpPr txBox="1">
            <a:spLocks noGrp="1"/>
          </p:cNvSpPr>
          <p:nvPr>
            <p:ph type="body" idx="1"/>
          </p:nvPr>
        </p:nvSpPr>
        <p:spPr>
          <a:xfrm>
            <a:off x="1370033" y="1976919"/>
            <a:ext cx="6175221" cy="9335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257274" indent="-257274">
              <a:spcBef>
                <a:spcPts val="0"/>
              </a:spcBef>
            </a:pPr>
            <a:endParaRPr b="1"/>
          </a:p>
          <a:p>
            <a:pPr marL="285860" indent="-285860"/>
            <a:endParaRPr b="1"/>
          </a:p>
          <a:p>
            <a:pPr marL="285860" indent="-285860"/>
            <a:endParaRPr/>
          </a:p>
        </p:txBody>
      </p:sp>
      <p:pic>
        <p:nvPicPr>
          <p:cNvPr id="906" name="Google Shape;906;p33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849" y="1809681"/>
            <a:ext cx="8724301" cy="383278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43;p10">
            <a:extLst>
              <a:ext uri="{FF2B5EF4-FFF2-40B4-BE49-F238E27FC236}">
                <a16:creationId xmlns:a16="http://schemas.microsoft.com/office/drawing/2014/main" id="{90AB0AF2-916F-DCBC-76C7-84F0A81DA15F}"/>
              </a:ext>
            </a:extLst>
          </p:cNvPr>
          <p:cNvSpPr txBox="1">
            <a:spLocks/>
          </p:cNvSpPr>
          <p:nvPr/>
        </p:nvSpPr>
        <p:spPr>
          <a:xfrm>
            <a:off x="243839" y="629433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Numeric Attributes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4"/>
          <p:cNvSpPr txBox="1">
            <a:spLocks noGrp="1"/>
          </p:cNvSpPr>
          <p:nvPr>
            <p:ph type="body" idx="1"/>
          </p:nvPr>
        </p:nvSpPr>
        <p:spPr>
          <a:xfrm>
            <a:off x="1370033" y="1976919"/>
            <a:ext cx="6175221" cy="9335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257274" indent="-257274">
              <a:spcBef>
                <a:spcPts val="0"/>
              </a:spcBef>
            </a:pPr>
            <a:endParaRPr b="1"/>
          </a:p>
          <a:p>
            <a:pPr marL="285860" indent="-285860"/>
            <a:endParaRPr b="1"/>
          </a:p>
          <a:p>
            <a:pPr marL="285860" indent="-285860"/>
            <a:endParaRPr/>
          </a:p>
        </p:txBody>
      </p:sp>
      <p:pic>
        <p:nvPicPr>
          <p:cNvPr id="913" name="Google Shape;913;p3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540" y="1732797"/>
            <a:ext cx="8570919" cy="39994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43;p10">
            <a:extLst>
              <a:ext uri="{FF2B5EF4-FFF2-40B4-BE49-F238E27FC236}">
                <a16:creationId xmlns:a16="http://schemas.microsoft.com/office/drawing/2014/main" id="{4AB8E2E9-D9C5-4021-FE09-C446A3036D49}"/>
              </a:ext>
            </a:extLst>
          </p:cNvPr>
          <p:cNvSpPr txBox="1">
            <a:spLocks/>
          </p:cNvSpPr>
          <p:nvPr/>
        </p:nvSpPr>
        <p:spPr>
          <a:xfrm>
            <a:off x="254478" y="599109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Numeric Attributes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43;p10">
            <a:extLst>
              <a:ext uri="{FF2B5EF4-FFF2-40B4-BE49-F238E27FC236}">
                <a16:creationId xmlns:a16="http://schemas.microsoft.com/office/drawing/2014/main" id="{094C1A47-834E-2240-E721-AD2B4EBC7957}"/>
              </a:ext>
            </a:extLst>
          </p:cNvPr>
          <p:cNvSpPr txBox="1">
            <a:spLocks/>
          </p:cNvSpPr>
          <p:nvPr/>
        </p:nvSpPr>
        <p:spPr>
          <a:xfrm>
            <a:off x="1647007" y="2970950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Complex Objects</a:t>
            </a:r>
          </a:p>
        </p:txBody>
      </p:sp>
    </p:spTree>
    <p:extLst>
      <p:ext uri="{BB962C8B-B14F-4D97-AF65-F5344CB8AC3E}">
        <p14:creationId xmlns:p14="http://schemas.microsoft.com/office/powerpoint/2010/main" val="36763504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43;p10">
            <a:extLst>
              <a:ext uri="{FF2B5EF4-FFF2-40B4-BE49-F238E27FC236}">
                <a16:creationId xmlns:a16="http://schemas.microsoft.com/office/drawing/2014/main" id="{26BAF040-2DB0-D901-F7A7-F7F535158030}"/>
              </a:ext>
            </a:extLst>
          </p:cNvPr>
          <p:cNvSpPr txBox="1">
            <a:spLocks/>
          </p:cNvSpPr>
          <p:nvPr/>
        </p:nvSpPr>
        <p:spPr>
          <a:xfrm>
            <a:off x="175259" y="698013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Complex Objects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3AF5F-1063-5A9C-C041-F695AB2453AB}"/>
              </a:ext>
            </a:extLst>
          </p:cNvPr>
          <p:cNvSpPr txBox="1"/>
          <p:nvPr/>
        </p:nvSpPr>
        <p:spPr>
          <a:xfrm>
            <a:off x="1062988" y="1850901"/>
            <a:ext cx="61607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cs typeface="Times New Roman" panose="02020603050405020304" pitchFamily="18" charset="0"/>
              </a:rPr>
              <a:t>A data object (or record or tuple) may contain all attribute types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cs typeface="Times New Roman" panose="02020603050405020304" pitchFamily="18" charset="0"/>
              </a:rPr>
              <a:t>Nominal, symmetric binary, asymmetric binary, numeric, ordinal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cs typeface="Times New Roman" panose="02020603050405020304" pitchFamily="18" charset="0"/>
              </a:rPr>
              <a:t>One will have to combine their effects</a:t>
            </a:r>
          </a:p>
        </p:txBody>
      </p:sp>
    </p:spTree>
    <p:extLst>
      <p:ext uri="{BB962C8B-B14F-4D97-AF65-F5344CB8AC3E}">
        <p14:creationId xmlns:p14="http://schemas.microsoft.com/office/powerpoint/2010/main" val="37661439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35"/>
          <p:cNvSpPr txBox="1">
            <a:spLocks noGrp="1"/>
          </p:cNvSpPr>
          <p:nvPr>
            <p:ph type="body" idx="1"/>
          </p:nvPr>
        </p:nvSpPr>
        <p:spPr>
          <a:xfrm>
            <a:off x="1370033" y="1976919"/>
            <a:ext cx="6175221" cy="9335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257274" indent="-257274">
              <a:spcBef>
                <a:spcPts val="0"/>
              </a:spcBef>
            </a:pPr>
            <a:endParaRPr b="1"/>
          </a:p>
          <a:p>
            <a:pPr marL="285860" indent="-285860"/>
            <a:endParaRPr b="1"/>
          </a:p>
          <a:p>
            <a:pPr marL="285860" indent="-285860"/>
            <a:endParaRPr/>
          </a:p>
        </p:txBody>
      </p:sp>
      <p:pic>
        <p:nvPicPr>
          <p:cNvPr id="920" name="Google Shape;920;p35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4135" y="2067137"/>
            <a:ext cx="8755729" cy="30573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43;p10">
            <a:extLst>
              <a:ext uri="{FF2B5EF4-FFF2-40B4-BE49-F238E27FC236}">
                <a16:creationId xmlns:a16="http://schemas.microsoft.com/office/drawing/2014/main" id="{B4FD5B7E-B663-5380-C1BB-BA5C555F98BF}"/>
              </a:ext>
            </a:extLst>
          </p:cNvPr>
          <p:cNvSpPr txBox="1">
            <a:spLocks/>
          </p:cNvSpPr>
          <p:nvPr/>
        </p:nvSpPr>
        <p:spPr>
          <a:xfrm>
            <a:off x="175259" y="698013"/>
            <a:ext cx="632460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Complex Objects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6027" y="1416318"/>
            <a:ext cx="7812349" cy="4433426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1800" dirty="0">
                <a:cs typeface="Times New Roman" panose="02020603050405020304" pitchFamily="18" charset="0"/>
              </a:rPr>
              <a:t>A database may contain all attribute types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Nominal, symmetric binary, asymmetric binary, numeric, ordinal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>
                <a:cs typeface="Times New Roman" panose="02020603050405020304" pitchFamily="18" charset="0"/>
              </a:rPr>
              <a:t>One may use a weighted formula to combine their effects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i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i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i="1" dirty="0">
                <a:cs typeface="Times New Roman" panose="02020603050405020304" pitchFamily="18" charset="0"/>
              </a:rPr>
              <a:t>f</a:t>
            </a:r>
            <a:r>
              <a:rPr lang="en-US" altLang="en-US" dirty="0">
                <a:cs typeface="Times New Roman" panose="02020603050405020304" pitchFamily="18" charset="0"/>
              </a:rPr>
              <a:t>  is binary or nominal: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dirty="0" err="1">
                <a:cs typeface="Times New Roman" panose="02020603050405020304" pitchFamily="18" charset="0"/>
              </a:rPr>
              <a:t>d</a:t>
            </a:r>
            <a:r>
              <a:rPr lang="en-US" altLang="en-US" sz="1800" baseline="-25000" dirty="0" err="1">
                <a:cs typeface="Times New Roman" panose="02020603050405020304" pitchFamily="18" charset="0"/>
              </a:rPr>
              <a:t>ij</a:t>
            </a:r>
            <a:r>
              <a:rPr lang="en-US" altLang="en-US" sz="1800" baseline="30000" dirty="0">
                <a:cs typeface="Times New Roman" panose="02020603050405020304" pitchFamily="18" charset="0"/>
              </a:rPr>
              <a:t>(f)</a:t>
            </a:r>
            <a:r>
              <a:rPr lang="en-US" altLang="en-US" sz="1800" dirty="0">
                <a:cs typeface="Times New Roman" panose="02020603050405020304" pitchFamily="18" charset="0"/>
              </a:rPr>
              <a:t> = 0  if </a:t>
            </a:r>
            <a:r>
              <a:rPr lang="en-US" altLang="en-US" sz="1800" dirty="0" err="1">
                <a:cs typeface="Times New Roman" panose="02020603050405020304" pitchFamily="18" charset="0"/>
              </a:rPr>
              <a:t>x</a:t>
            </a:r>
            <a:r>
              <a:rPr lang="en-US" altLang="en-US" sz="1800" baseline="-25000" dirty="0" err="1">
                <a:cs typeface="Times New Roman" panose="02020603050405020304" pitchFamily="18" charset="0"/>
              </a:rPr>
              <a:t>if</a:t>
            </a:r>
            <a:r>
              <a:rPr lang="en-US" altLang="en-US" sz="1800" baseline="-25000" dirty="0"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cs typeface="Times New Roman" panose="02020603050405020304" pitchFamily="18" charset="0"/>
              </a:rPr>
              <a:t>= </a:t>
            </a:r>
            <a:r>
              <a:rPr lang="en-US" altLang="en-US" sz="1800" dirty="0" err="1">
                <a:cs typeface="Times New Roman" panose="02020603050405020304" pitchFamily="18" charset="0"/>
              </a:rPr>
              <a:t>x</a:t>
            </a:r>
            <a:r>
              <a:rPr lang="en-US" altLang="en-US" sz="1800" baseline="-25000" dirty="0" err="1">
                <a:cs typeface="Times New Roman" panose="02020603050405020304" pitchFamily="18" charset="0"/>
              </a:rPr>
              <a:t>jf</a:t>
            </a:r>
            <a:r>
              <a:rPr lang="en-US" altLang="en-US" sz="1800" dirty="0">
                <a:cs typeface="Times New Roman" panose="02020603050405020304" pitchFamily="18" charset="0"/>
              </a:rPr>
              <a:t> , or </a:t>
            </a:r>
            <a:r>
              <a:rPr lang="en-US" altLang="en-US" sz="1800" dirty="0" err="1">
                <a:cs typeface="Times New Roman" panose="02020603050405020304" pitchFamily="18" charset="0"/>
              </a:rPr>
              <a:t>d</a:t>
            </a:r>
            <a:r>
              <a:rPr lang="en-US" altLang="en-US" sz="1800" baseline="-25000" dirty="0" err="1">
                <a:cs typeface="Times New Roman" panose="02020603050405020304" pitchFamily="18" charset="0"/>
              </a:rPr>
              <a:t>ij</a:t>
            </a:r>
            <a:r>
              <a:rPr lang="en-US" altLang="en-US" sz="1800" baseline="30000" dirty="0">
                <a:cs typeface="Times New Roman" panose="02020603050405020304" pitchFamily="18" charset="0"/>
              </a:rPr>
              <a:t>(f)</a:t>
            </a:r>
            <a:r>
              <a:rPr lang="en-US" altLang="en-US" sz="1800" dirty="0">
                <a:cs typeface="Times New Roman" panose="02020603050405020304" pitchFamily="18" charset="0"/>
              </a:rPr>
              <a:t> = 1 otherwise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i="1" dirty="0">
                <a:cs typeface="Times New Roman" panose="02020603050405020304" pitchFamily="18" charset="0"/>
              </a:rPr>
              <a:t>f</a:t>
            </a:r>
            <a:r>
              <a:rPr lang="en-US" altLang="en-US" dirty="0">
                <a:cs typeface="Times New Roman" panose="02020603050405020304" pitchFamily="18" charset="0"/>
              </a:rPr>
              <a:t>  is numeric: use the normalized distance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i="1" dirty="0">
                <a:cs typeface="Times New Roman" panose="02020603050405020304" pitchFamily="18" charset="0"/>
              </a:rPr>
              <a:t>f</a:t>
            </a:r>
            <a:r>
              <a:rPr lang="en-US" altLang="en-US" dirty="0">
                <a:cs typeface="Times New Roman" panose="02020603050405020304" pitchFamily="18" charset="0"/>
              </a:rPr>
              <a:t>  is ordinal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>
                <a:cs typeface="Times New Roman" panose="02020603050405020304" pitchFamily="18" charset="0"/>
              </a:rPr>
              <a:t>Compute ranks </a:t>
            </a:r>
            <a:r>
              <a:rPr lang="en-US" altLang="en-US" sz="1800" dirty="0" err="1">
                <a:cs typeface="Times New Roman" panose="02020603050405020304" pitchFamily="18" charset="0"/>
              </a:rPr>
              <a:t>r</a:t>
            </a:r>
            <a:r>
              <a:rPr lang="en-US" altLang="en-US" sz="1800" baseline="-25000" dirty="0" err="1">
                <a:cs typeface="Times New Roman" panose="02020603050405020304" pitchFamily="18" charset="0"/>
              </a:rPr>
              <a:t>if</a:t>
            </a:r>
            <a:r>
              <a:rPr lang="en-US" altLang="en-US" sz="1800" dirty="0">
                <a:cs typeface="Times New Roman" panose="02020603050405020304" pitchFamily="18" charset="0"/>
              </a:rPr>
              <a:t> and 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>
                <a:cs typeface="Times New Roman" panose="02020603050405020304" pitchFamily="18" charset="0"/>
              </a:rPr>
              <a:t>Treat </a:t>
            </a:r>
            <a:r>
              <a:rPr lang="en-US" altLang="en-US" sz="1800" dirty="0" err="1">
                <a:cs typeface="Times New Roman" panose="02020603050405020304" pitchFamily="18" charset="0"/>
              </a:rPr>
              <a:t>z</a:t>
            </a:r>
            <a:r>
              <a:rPr lang="en-US" altLang="en-US" sz="1800" baseline="-25000" dirty="0" err="1">
                <a:cs typeface="Times New Roman" panose="02020603050405020304" pitchFamily="18" charset="0"/>
              </a:rPr>
              <a:t>if</a:t>
            </a:r>
            <a:r>
              <a:rPr lang="en-US" altLang="en-US" sz="1800" dirty="0">
                <a:cs typeface="Times New Roman" panose="02020603050405020304" pitchFamily="18" charset="0"/>
              </a:rPr>
              <a:t> as interval-scaled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z="1800" dirty="0">
              <a:cs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>
          <a:xfrm>
            <a:off x="131485" y="768365"/>
            <a:ext cx="7886700" cy="43819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 dirty="0">
                <a:cs typeface="Times New Roman" panose="02020603050405020304" pitchFamily="18" charset="0"/>
              </a:rPr>
              <a:t>Attributes of Mixed Type</a:t>
            </a:r>
          </a:p>
        </p:txBody>
      </p:sp>
      <p:graphicFrame>
        <p:nvGraphicFramePr>
          <p:cNvPr id="65541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990850" y="2533212"/>
          <a:ext cx="1786088" cy="624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08200" imgH="736600" progId="Equation.3">
                  <p:embed/>
                </p:oleObj>
              </mc:Choice>
              <mc:Fallback>
                <p:oleObj name="Equation" r:id="rId3" imgW="2108200" imgH="736600" progId="Equation.3">
                  <p:embed/>
                  <p:pic>
                    <p:nvPicPr>
                      <p:cNvPr id="6554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850" y="2533212"/>
                        <a:ext cx="1786088" cy="6240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8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213" indent="-214313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6A80B94E-DA0E-4AAD-BF5E-0379C86A413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38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65542" name="Object 5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482688" y="4462810"/>
          <a:ext cx="1028700" cy="546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2865" imgH="533169" progId="Equation.3">
                  <p:embed/>
                </p:oleObj>
              </mc:Choice>
              <mc:Fallback>
                <p:oleObj name="Equation" r:id="rId5" imgW="1002865" imgH="533169" progId="Equation.3">
                  <p:embed/>
                  <p:pic>
                    <p:nvPicPr>
                      <p:cNvPr id="6554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2688" y="4462810"/>
                        <a:ext cx="1028700" cy="5464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88329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7"/>
          <p:cNvSpPr txBox="1">
            <a:spLocks noGrp="1"/>
          </p:cNvSpPr>
          <p:nvPr>
            <p:ph type="body" idx="1"/>
          </p:nvPr>
        </p:nvSpPr>
        <p:spPr>
          <a:xfrm>
            <a:off x="1370033" y="1976919"/>
            <a:ext cx="6175221" cy="9335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257274" indent="-257274">
              <a:spcBef>
                <a:spcPts val="0"/>
              </a:spcBef>
            </a:pPr>
            <a:endParaRPr b="1"/>
          </a:p>
          <a:p>
            <a:pPr marL="285860" indent="-285860"/>
            <a:endParaRPr b="1"/>
          </a:p>
          <a:p>
            <a:pPr marL="285860" indent="-285860"/>
            <a:endParaRPr/>
          </a:p>
        </p:txBody>
      </p:sp>
      <p:pic>
        <p:nvPicPr>
          <p:cNvPr id="934" name="Google Shape;934;p37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955" y="2039932"/>
            <a:ext cx="8907471" cy="345410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43;p10">
            <a:extLst>
              <a:ext uri="{FF2B5EF4-FFF2-40B4-BE49-F238E27FC236}">
                <a16:creationId xmlns:a16="http://schemas.microsoft.com/office/drawing/2014/main" id="{F84F3C01-FF1B-317C-B1F4-C46D73391999}"/>
              </a:ext>
            </a:extLst>
          </p:cNvPr>
          <p:cNvSpPr txBox="1">
            <a:spLocks/>
          </p:cNvSpPr>
          <p:nvPr/>
        </p:nvSpPr>
        <p:spPr>
          <a:xfrm>
            <a:off x="175259" y="698013"/>
            <a:ext cx="646938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Mixed Type Attributes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38"/>
          <p:cNvSpPr txBox="1">
            <a:spLocks noGrp="1"/>
          </p:cNvSpPr>
          <p:nvPr>
            <p:ph type="body" idx="1"/>
          </p:nvPr>
        </p:nvSpPr>
        <p:spPr>
          <a:xfrm>
            <a:off x="1370033" y="1976919"/>
            <a:ext cx="6175221" cy="9335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257274" indent="-257274">
              <a:spcBef>
                <a:spcPts val="0"/>
              </a:spcBef>
            </a:pPr>
            <a:endParaRPr b="1"/>
          </a:p>
          <a:p>
            <a:pPr marL="285860" indent="-285860"/>
            <a:endParaRPr b="1"/>
          </a:p>
          <a:p>
            <a:pPr marL="285860" indent="-285860"/>
            <a:endParaRPr/>
          </a:p>
        </p:txBody>
      </p:sp>
      <p:pic>
        <p:nvPicPr>
          <p:cNvPr id="941" name="Google Shape;941;p38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136" y="1707665"/>
            <a:ext cx="8051014" cy="41703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43;p10">
            <a:extLst>
              <a:ext uri="{FF2B5EF4-FFF2-40B4-BE49-F238E27FC236}">
                <a16:creationId xmlns:a16="http://schemas.microsoft.com/office/drawing/2014/main" id="{EB035927-026D-E961-CDBE-431A835C7B9A}"/>
              </a:ext>
            </a:extLst>
          </p:cNvPr>
          <p:cNvSpPr txBox="1">
            <a:spLocks/>
          </p:cNvSpPr>
          <p:nvPr/>
        </p:nvSpPr>
        <p:spPr>
          <a:xfrm>
            <a:off x="175259" y="698013"/>
            <a:ext cx="646938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Mixed Type Attributes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39"/>
          <p:cNvSpPr txBox="1">
            <a:spLocks noGrp="1"/>
          </p:cNvSpPr>
          <p:nvPr>
            <p:ph type="body" idx="1"/>
          </p:nvPr>
        </p:nvSpPr>
        <p:spPr>
          <a:xfrm>
            <a:off x="1370033" y="1976919"/>
            <a:ext cx="6175221" cy="9335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257274" indent="-257274">
              <a:spcBef>
                <a:spcPts val="0"/>
              </a:spcBef>
            </a:pPr>
            <a:endParaRPr b="1"/>
          </a:p>
          <a:p>
            <a:pPr marL="285860" indent="-285860"/>
            <a:endParaRPr b="1"/>
          </a:p>
          <a:p>
            <a:pPr marL="285860" indent="-285860"/>
            <a:endParaRPr/>
          </a:p>
        </p:txBody>
      </p:sp>
      <p:pic>
        <p:nvPicPr>
          <p:cNvPr id="948" name="Google Shape;948;p39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7569" y="1768219"/>
            <a:ext cx="8655642" cy="388976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43;p10">
            <a:extLst>
              <a:ext uri="{FF2B5EF4-FFF2-40B4-BE49-F238E27FC236}">
                <a16:creationId xmlns:a16="http://schemas.microsoft.com/office/drawing/2014/main" id="{5FDA2C57-447C-6CB8-DB56-90545FDDA8A9}"/>
              </a:ext>
            </a:extLst>
          </p:cNvPr>
          <p:cNvSpPr txBox="1">
            <a:spLocks/>
          </p:cNvSpPr>
          <p:nvPr/>
        </p:nvSpPr>
        <p:spPr>
          <a:xfrm>
            <a:off x="175259" y="698013"/>
            <a:ext cx="646938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Mixed Type Attributes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0"/>
          <p:cNvSpPr txBox="1">
            <a:spLocks noGrp="1"/>
          </p:cNvSpPr>
          <p:nvPr>
            <p:ph type="body" idx="1"/>
          </p:nvPr>
        </p:nvSpPr>
        <p:spPr>
          <a:xfrm>
            <a:off x="1370033" y="1976919"/>
            <a:ext cx="6175221" cy="9335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pPr marL="257274" indent="-257274">
              <a:spcBef>
                <a:spcPts val="0"/>
              </a:spcBef>
            </a:pPr>
            <a:endParaRPr b="1"/>
          </a:p>
          <a:p>
            <a:pPr marL="285860" indent="-285860"/>
            <a:endParaRPr b="1"/>
          </a:p>
          <a:p>
            <a:pPr marL="285860" indent="-285860"/>
            <a:endParaRPr/>
          </a:p>
        </p:txBody>
      </p:sp>
      <p:pic>
        <p:nvPicPr>
          <p:cNvPr id="955" name="Google Shape;955;p40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318" y="1710827"/>
            <a:ext cx="8735363" cy="381834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43;p10">
            <a:extLst>
              <a:ext uri="{FF2B5EF4-FFF2-40B4-BE49-F238E27FC236}">
                <a16:creationId xmlns:a16="http://schemas.microsoft.com/office/drawing/2014/main" id="{D67B6728-D7F6-1E5E-0DF2-E316B0A49825}"/>
              </a:ext>
            </a:extLst>
          </p:cNvPr>
          <p:cNvSpPr txBox="1">
            <a:spLocks/>
          </p:cNvSpPr>
          <p:nvPr/>
        </p:nvSpPr>
        <p:spPr>
          <a:xfrm>
            <a:off x="175259" y="698013"/>
            <a:ext cx="6469381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Proximity Measure For Mixed Type Attributes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43;p10">
            <a:extLst>
              <a:ext uri="{FF2B5EF4-FFF2-40B4-BE49-F238E27FC236}">
                <a16:creationId xmlns:a16="http://schemas.microsoft.com/office/drawing/2014/main" id="{094C1A47-834E-2240-E721-AD2B4EBC7957}"/>
              </a:ext>
            </a:extLst>
          </p:cNvPr>
          <p:cNvSpPr txBox="1">
            <a:spLocks/>
          </p:cNvSpPr>
          <p:nvPr/>
        </p:nvSpPr>
        <p:spPr>
          <a:xfrm>
            <a:off x="2490651" y="2970950"/>
            <a:ext cx="5480957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Cosine Similarity</a:t>
            </a:r>
          </a:p>
        </p:txBody>
      </p:sp>
    </p:spTree>
    <p:extLst>
      <p:ext uri="{BB962C8B-B14F-4D97-AF65-F5344CB8AC3E}">
        <p14:creationId xmlns:p14="http://schemas.microsoft.com/office/powerpoint/2010/main" val="27166144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135244" y="792058"/>
            <a:ext cx="7886700" cy="365125"/>
          </a:xfrm>
          <a:noFill/>
        </p:spPr>
        <p:txBody>
          <a:bodyPr vert="horz" lIns="69056" tIns="34529" rIns="69056" bIns="34529" rtlCol="0" anchor="ctr">
            <a:normAutofit fontScale="90000"/>
          </a:bodyPr>
          <a:lstStyle/>
          <a:p>
            <a:pPr eaLnBrk="1" hangingPunct="1"/>
            <a:r>
              <a:rPr lang="en-US" altLang="en-US" sz="3600" b="1" dirty="0">
                <a:cs typeface="Times New Roman" panose="02020603050405020304" pitchFamily="18" charset="0"/>
              </a:rPr>
              <a:t> Cosine Similarity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idx="1"/>
          </p:nvPr>
        </p:nvSpPr>
        <p:spPr>
          <a:xfrm>
            <a:off x="332913" y="1427041"/>
            <a:ext cx="7886700" cy="3263504"/>
          </a:xfrm>
          <a:noFill/>
        </p:spPr>
        <p:txBody>
          <a:bodyPr vert="horz" lIns="69056" tIns="34529" rIns="69056" bIns="34529" rtlCol="0">
            <a:no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1800" dirty="0">
                <a:cs typeface="Times New Roman" panose="02020603050405020304" pitchFamily="18" charset="0"/>
              </a:rPr>
              <a:t>A </a:t>
            </a:r>
            <a:r>
              <a:rPr lang="en-US" altLang="en-US" sz="1800" b="1" dirty="0">
                <a:cs typeface="Times New Roman" panose="02020603050405020304" pitchFamily="18" charset="0"/>
              </a:rPr>
              <a:t>document</a:t>
            </a:r>
            <a:r>
              <a:rPr lang="en-US" altLang="en-US" sz="1800" dirty="0">
                <a:cs typeface="Times New Roman" panose="02020603050405020304" pitchFamily="18" charset="0"/>
              </a:rPr>
              <a:t> can be represented by thousands of attributes, each recording the </a:t>
            </a:r>
            <a:r>
              <a:rPr lang="en-US" altLang="en-US" sz="1800" i="1" dirty="0">
                <a:cs typeface="Times New Roman" panose="02020603050405020304" pitchFamily="18" charset="0"/>
              </a:rPr>
              <a:t>frequency</a:t>
            </a:r>
            <a:r>
              <a:rPr lang="en-US" altLang="en-US" sz="1800" dirty="0">
                <a:cs typeface="Times New Roman" panose="02020603050405020304" pitchFamily="18" charset="0"/>
              </a:rPr>
              <a:t> of a particular word (such as keywords) or phrase in the document.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None/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1800" dirty="0">
                <a:cs typeface="Times New Roman" panose="02020603050405020304" pitchFamily="18" charset="0"/>
              </a:rPr>
              <a:t>Other vector objects: gene features in micro-arrays, …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1800" dirty="0">
                <a:cs typeface="Times New Roman" panose="02020603050405020304" pitchFamily="18" charset="0"/>
              </a:rPr>
              <a:t>Applications: information retrieval, biologic taxonomy, gene feature mapping, ...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1800" dirty="0">
                <a:cs typeface="Times New Roman" panose="02020603050405020304" pitchFamily="18" charset="0"/>
              </a:rPr>
              <a:t>Cosine measure: If 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cs typeface="Times New Roman" panose="02020603050405020304" pitchFamily="18" charset="0"/>
              </a:rPr>
              <a:t> and 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cs typeface="Times New Roman" panose="02020603050405020304" pitchFamily="18" charset="0"/>
              </a:rPr>
              <a:t> are two vectors (e.g., term-frequency vectors), then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sz="1800" dirty="0">
                <a:cs typeface="Times New Roman" panose="02020603050405020304" pitchFamily="18" charset="0"/>
              </a:rPr>
              <a:t>             cos(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1800" i="1" dirty="0">
                <a:cs typeface="Times New Roman" panose="02020603050405020304" pitchFamily="18" charset="0"/>
              </a:rPr>
              <a:t>, 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cs typeface="Times New Roman" panose="02020603050405020304" pitchFamily="18" charset="0"/>
              </a:rPr>
              <a:t>) =  (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sz="1800" dirty="0">
                <a:cs typeface="Times New Roman" panose="02020603050405020304" pitchFamily="18" charset="0"/>
              </a:rPr>
              <a:t> 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cs typeface="Times New Roman" panose="02020603050405020304" pitchFamily="18" charset="0"/>
              </a:rPr>
              <a:t>) /||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cs typeface="Times New Roman" panose="02020603050405020304" pitchFamily="18" charset="0"/>
              </a:rPr>
              <a:t>|| ||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cs typeface="Times New Roman" panose="02020603050405020304" pitchFamily="18" charset="0"/>
              </a:rPr>
              <a:t>|| , </a:t>
            </a:r>
          </a:p>
          <a:p>
            <a:pPr lvl="1"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   where </a:t>
            </a:r>
            <a:r>
              <a:rPr lang="en-US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dirty="0">
                <a:cs typeface="Times New Roman" panose="02020603050405020304" pitchFamily="18" charset="0"/>
              </a:rPr>
              <a:t> indicates vector dot product, ||</a:t>
            </a:r>
            <a:r>
              <a:rPr lang="en-US" altLang="en-US" i="1" dirty="0">
                <a:cs typeface="Times New Roman" panose="02020603050405020304" pitchFamily="18" charset="0"/>
              </a:rPr>
              <a:t>d</a:t>
            </a:r>
            <a:r>
              <a:rPr lang="en-US" altLang="en-US" dirty="0">
                <a:cs typeface="Times New Roman" panose="02020603050405020304" pitchFamily="18" charset="0"/>
              </a:rPr>
              <a:t>||: the length of vector </a:t>
            </a:r>
            <a:r>
              <a:rPr lang="en-US" altLang="en-US" i="1" dirty="0"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665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213" indent="-214313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CB2851DB-7828-4C45-AC56-B260555ECA06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44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66565" name="Picture 4" descr="eqtab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940" y="2369922"/>
            <a:ext cx="617220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51425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>
          <a:xfrm>
            <a:off x="166456" y="704005"/>
            <a:ext cx="7886700" cy="507852"/>
          </a:xfrm>
          <a:noFill/>
        </p:spPr>
        <p:txBody>
          <a:bodyPr vert="horz" lIns="69056" tIns="34529" rIns="69056" bIns="34529" rtlCol="0" anchor="ctr">
            <a:normAutofit fontScale="90000"/>
          </a:bodyPr>
          <a:lstStyle/>
          <a:p>
            <a:pPr eaLnBrk="1" hangingPunct="1"/>
            <a:r>
              <a:rPr lang="en-US" altLang="en-US" sz="3600" b="1" dirty="0">
                <a:cs typeface="Times New Roman" panose="02020603050405020304" pitchFamily="18" charset="0"/>
              </a:rPr>
              <a:t> Example: Cosine Similarity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565973"/>
            <a:ext cx="7886700" cy="4351338"/>
          </a:xfrm>
          <a:noFill/>
        </p:spPr>
        <p:txBody>
          <a:bodyPr vert="horz" lIns="69056" tIns="34529" rIns="69056" bIns="34529" rtlCol="0">
            <a:normAutofit/>
          </a:bodyPr>
          <a:lstStyle/>
          <a:p>
            <a:pPr eaLnBrk="1" hangingPunct="1">
              <a:lnSpc>
                <a:spcPct val="90000"/>
              </a:lnSpc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>
                <a:cs typeface="Times New Roman" panose="02020603050405020304" pitchFamily="18" charset="0"/>
              </a:rPr>
              <a:t>cos(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1800" i="1" dirty="0">
                <a:cs typeface="Times New Roman" panose="02020603050405020304" pitchFamily="18" charset="0"/>
              </a:rPr>
              <a:t>, 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cs typeface="Times New Roman" panose="02020603050405020304" pitchFamily="18" charset="0"/>
              </a:rPr>
              <a:t>) =  (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sz="1800" dirty="0">
                <a:cs typeface="Times New Roman" panose="02020603050405020304" pitchFamily="18" charset="0"/>
              </a:rPr>
              <a:t> 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cs typeface="Times New Roman" panose="02020603050405020304" pitchFamily="18" charset="0"/>
              </a:rPr>
              <a:t>) /||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1800" dirty="0">
                <a:cs typeface="Times New Roman" panose="02020603050405020304" pitchFamily="18" charset="0"/>
              </a:rPr>
              <a:t>|| ||</a:t>
            </a:r>
            <a:r>
              <a:rPr lang="en-US" altLang="en-US" sz="1800" i="1" dirty="0">
                <a:cs typeface="Times New Roman" panose="02020603050405020304" pitchFamily="18" charset="0"/>
              </a:rPr>
              <a:t>d</a:t>
            </a:r>
            <a:r>
              <a:rPr lang="en-US" altLang="en-US" sz="18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1800" dirty="0">
                <a:cs typeface="Times New Roman" panose="02020603050405020304" pitchFamily="18" charset="0"/>
              </a:rPr>
              <a:t>|| , 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   where </a:t>
            </a:r>
            <a:r>
              <a:rPr lang="en-US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dirty="0">
                <a:cs typeface="Times New Roman" panose="02020603050405020304" pitchFamily="18" charset="0"/>
              </a:rPr>
              <a:t> indicates vector dot product, ||</a:t>
            </a:r>
            <a:r>
              <a:rPr lang="en-US" altLang="en-US" i="1" dirty="0">
                <a:cs typeface="Times New Roman" panose="02020603050405020304" pitchFamily="18" charset="0"/>
              </a:rPr>
              <a:t>d</a:t>
            </a:r>
            <a:r>
              <a:rPr lang="en-US" altLang="en-US" dirty="0">
                <a:cs typeface="Times New Roman" panose="02020603050405020304" pitchFamily="18" charset="0"/>
              </a:rPr>
              <a:t>|: the length of vector </a:t>
            </a:r>
            <a:r>
              <a:rPr lang="en-US" altLang="en-US" i="1" dirty="0">
                <a:cs typeface="Times New Roman" panose="02020603050405020304" pitchFamily="18" charset="0"/>
              </a:rPr>
              <a:t>d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i="1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US" sz="1800" dirty="0">
                <a:cs typeface="Times New Roman" panose="02020603050405020304" pitchFamily="18" charset="0"/>
              </a:rPr>
              <a:t>Ex: Find the </a:t>
            </a:r>
            <a:r>
              <a:rPr lang="en-US" altLang="en-US" sz="1800" b="1" dirty="0">
                <a:cs typeface="Times New Roman" panose="02020603050405020304" pitchFamily="18" charset="0"/>
              </a:rPr>
              <a:t>similarity</a:t>
            </a:r>
            <a:r>
              <a:rPr lang="en-US" altLang="en-US" sz="1800" dirty="0">
                <a:cs typeface="Times New Roman" panose="02020603050405020304" pitchFamily="18" charset="0"/>
              </a:rPr>
              <a:t> between documents 1 and 2.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 dirty="0">
                <a:cs typeface="Times New Roman" panose="02020603050405020304" pitchFamily="18" charset="0"/>
              </a:rPr>
              <a:t>d</a:t>
            </a:r>
            <a:r>
              <a:rPr lang="en-US" altLang="en-US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i="1" dirty="0"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cs typeface="Times New Roman" panose="02020603050405020304" pitchFamily="18" charset="0"/>
              </a:rPr>
              <a:t>=  </a:t>
            </a:r>
            <a:r>
              <a:rPr lang="en-US" altLang="en-US" dirty="0">
                <a:cs typeface="Times New Roman" panose="02020603050405020304" pitchFamily="18" charset="0"/>
              </a:rPr>
              <a:t>(5, 0, 3, 0, 2, 0, 0, 2, 0, 0)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 dirty="0">
                <a:cs typeface="Times New Roman" panose="02020603050405020304" pitchFamily="18" charset="0"/>
              </a:rPr>
              <a:t>d</a:t>
            </a:r>
            <a:r>
              <a:rPr lang="en-US" altLang="en-US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b="1" dirty="0">
                <a:cs typeface="Times New Roman" panose="02020603050405020304" pitchFamily="18" charset="0"/>
              </a:rPr>
              <a:t> =  </a:t>
            </a:r>
            <a:r>
              <a:rPr lang="en-US" altLang="en-US" dirty="0">
                <a:cs typeface="Times New Roman" panose="02020603050405020304" pitchFamily="18" charset="0"/>
              </a:rPr>
              <a:t>(3, 0, 2, 0, 1, 1, 0, 1, 0, 1)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 dirty="0">
                <a:cs typeface="Times New Roman" panose="02020603050405020304" pitchFamily="18" charset="0"/>
              </a:rPr>
              <a:t>d</a:t>
            </a:r>
            <a:r>
              <a:rPr lang="en-US" altLang="en-US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i="1" dirty="0">
                <a:cs typeface="Times New Roman" panose="02020603050405020304" pitchFamily="18" charset="0"/>
              </a:rPr>
              <a:t>d</a:t>
            </a:r>
            <a:r>
              <a:rPr lang="en-US" altLang="en-US" i="1" baseline="-30000" dirty="0">
                <a:cs typeface="Times New Roman" panose="02020603050405020304" pitchFamily="18" charset="0"/>
              </a:rPr>
              <a:t>2 </a:t>
            </a:r>
            <a:r>
              <a:rPr lang="en-US" altLang="en-US" dirty="0">
                <a:cs typeface="Times New Roman" panose="02020603050405020304" pitchFamily="18" charset="0"/>
              </a:rPr>
              <a:t>= 5*3+0*0+3*2+0*0+2*1+0*1+0*1+2*1+0*0+0*1 = 25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||</a:t>
            </a:r>
            <a:r>
              <a:rPr lang="en-US" altLang="en-US" i="1" dirty="0">
                <a:cs typeface="Times New Roman" panose="02020603050405020304" pitchFamily="18" charset="0"/>
              </a:rPr>
              <a:t>d</a:t>
            </a:r>
            <a:r>
              <a:rPr lang="en-US" altLang="en-US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dirty="0">
                <a:cs typeface="Times New Roman" panose="02020603050405020304" pitchFamily="18" charset="0"/>
              </a:rPr>
              <a:t>||= (5*5+0*0+3*3+0*0+2*2+0*0+0*0+2*2+0*0+0*0)</a:t>
            </a:r>
            <a:r>
              <a:rPr lang="en-US" altLang="en-US" b="1" baseline="30000" dirty="0">
                <a:cs typeface="Times New Roman" panose="02020603050405020304" pitchFamily="18" charset="0"/>
              </a:rPr>
              <a:t>0.5</a:t>
            </a:r>
            <a:r>
              <a:rPr lang="en-US" altLang="en-US" dirty="0">
                <a:cs typeface="Times New Roman" panose="02020603050405020304" pitchFamily="18" charset="0"/>
              </a:rPr>
              <a:t>=(42)</a:t>
            </a:r>
            <a:r>
              <a:rPr lang="en-US" altLang="en-US" b="1" baseline="30000" dirty="0">
                <a:cs typeface="Times New Roman" panose="02020603050405020304" pitchFamily="18" charset="0"/>
              </a:rPr>
              <a:t>0.5</a:t>
            </a:r>
            <a:r>
              <a:rPr lang="en-US" altLang="en-US" dirty="0">
                <a:cs typeface="Times New Roman" panose="02020603050405020304" pitchFamily="18" charset="0"/>
              </a:rPr>
              <a:t>  = 6.481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||</a:t>
            </a:r>
            <a:r>
              <a:rPr lang="en-US" altLang="en-US" i="1" dirty="0">
                <a:cs typeface="Times New Roman" panose="02020603050405020304" pitchFamily="18" charset="0"/>
              </a:rPr>
              <a:t>d</a:t>
            </a:r>
            <a:r>
              <a:rPr lang="en-US" altLang="en-US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dirty="0">
                <a:cs typeface="Times New Roman" panose="02020603050405020304" pitchFamily="18" charset="0"/>
              </a:rPr>
              <a:t>||= (3*3+0*0+2*2+0*0+1*1+1*1+0*0+1*1+0*0+1*1)</a:t>
            </a:r>
            <a:r>
              <a:rPr lang="en-US" altLang="en-US" b="1" baseline="30000" dirty="0">
                <a:cs typeface="Times New Roman" panose="02020603050405020304" pitchFamily="18" charset="0"/>
              </a:rPr>
              <a:t>0.5</a:t>
            </a:r>
            <a:r>
              <a:rPr lang="en-US" altLang="en-US" dirty="0">
                <a:cs typeface="Times New Roman" panose="02020603050405020304" pitchFamily="18" charset="0"/>
              </a:rPr>
              <a:t>=(17)</a:t>
            </a:r>
            <a:r>
              <a:rPr lang="en-US" altLang="en-US" b="1" baseline="30000" dirty="0">
                <a:cs typeface="Times New Roman" panose="02020603050405020304" pitchFamily="18" charset="0"/>
              </a:rPr>
              <a:t>0.5</a:t>
            </a:r>
            <a:r>
              <a:rPr lang="en-US" altLang="en-US" dirty="0">
                <a:cs typeface="Times New Roman" panose="02020603050405020304" pitchFamily="18" charset="0"/>
              </a:rPr>
              <a:t>       = 4.12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cos(</a:t>
            </a:r>
            <a:r>
              <a:rPr lang="en-US" altLang="en-US" i="1" dirty="0">
                <a:cs typeface="Times New Roman" panose="02020603050405020304" pitchFamily="18" charset="0"/>
              </a:rPr>
              <a:t>d</a:t>
            </a:r>
            <a:r>
              <a:rPr lang="en-US" altLang="en-US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i="1" dirty="0">
                <a:cs typeface="Times New Roman" panose="02020603050405020304" pitchFamily="18" charset="0"/>
              </a:rPr>
              <a:t>, d</a:t>
            </a:r>
            <a:r>
              <a:rPr lang="en-US" altLang="en-US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dirty="0">
                <a:cs typeface="Times New Roman" panose="02020603050405020304" pitchFamily="18" charset="0"/>
              </a:rPr>
              <a:t> ) = 0.94</a:t>
            </a:r>
          </a:p>
        </p:txBody>
      </p:sp>
      <p:sp>
        <p:nvSpPr>
          <p:cNvPr id="675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213" indent="-214313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1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fld id="{761D3BA7-9A18-4E2C-97F7-1B60304A3EFC}" type="slidenum"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t>45</a:t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8093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0622E-F551-AB52-43A9-8ACAD3ACE00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2154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43;p10">
            <a:extLst>
              <a:ext uri="{FF2B5EF4-FFF2-40B4-BE49-F238E27FC236}">
                <a16:creationId xmlns:a16="http://schemas.microsoft.com/office/drawing/2014/main" id="{094C1A47-834E-2240-E721-AD2B4EBC7957}"/>
              </a:ext>
            </a:extLst>
          </p:cNvPr>
          <p:cNvSpPr txBox="1">
            <a:spLocks/>
          </p:cNvSpPr>
          <p:nvPr/>
        </p:nvSpPr>
        <p:spPr>
          <a:xfrm>
            <a:off x="2490651" y="2970950"/>
            <a:ext cx="5480957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+mn-lt"/>
                <a:sym typeface="Calibri"/>
              </a:rPr>
              <a:t>Handling  Numeric  Data</a:t>
            </a:r>
          </a:p>
        </p:txBody>
      </p:sp>
    </p:spTree>
    <p:extLst>
      <p:ext uri="{BB962C8B-B14F-4D97-AF65-F5344CB8AC3E}">
        <p14:creationId xmlns:p14="http://schemas.microsoft.com/office/powerpoint/2010/main" val="4634494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Google Shape;1074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829726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3180862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3532021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3865113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49"/>
          <p:cNvSpPr txBox="1"/>
          <p:nvPr/>
        </p:nvSpPr>
        <p:spPr>
          <a:xfrm>
            <a:off x="194864" y="2356836"/>
            <a:ext cx="8754272" cy="23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811" rIns="0" bIns="0" anchor="t" anchorCtr="0">
            <a:spAutoFit/>
          </a:bodyPr>
          <a:lstStyle/>
          <a:p>
            <a:pPr marL="60423" defTabSz="1450147">
              <a:buClr>
                <a:srgbClr val="000000"/>
              </a:buClr>
              <a:buSzPts val="1050"/>
            </a:pPr>
            <a:r>
              <a:rPr lang="en-US" sz="1665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Techniques are</a:t>
            </a:r>
            <a:endParaRPr sz="1665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31721" marR="2305129" defTabSz="1450147">
              <a:lnSpc>
                <a:spcPct val="136000"/>
              </a:lnSpc>
              <a:spcBef>
                <a:spcPts val="48"/>
              </a:spcBef>
              <a:buClr>
                <a:srgbClr val="000000"/>
              </a:buClr>
              <a:buSzPts val="1050"/>
            </a:pPr>
            <a:r>
              <a:rPr lang="en-US" sz="1665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Discretization – Convert numeric data into discrete categories  Binarization – Convert numeric data into binary categories  Normalization – Scale numeric data to a specific range  Smoothing</a:t>
            </a:r>
            <a:endParaRPr sz="1665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49342" marR="48338" indent="-271903" defTabSz="1450147">
              <a:lnSpc>
                <a:spcPct val="118900"/>
              </a:lnSpc>
              <a:spcBef>
                <a:spcPts val="285"/>
              </a:spcBef>
              <a:buClr>
                <a:srgbClr val="000000"/>
              </a:buClr>
              <a:buSzPts val="950"/>
              <a:buFont typeface="Arial"/>
              <a:buChar char="•"/>
            </a:pPr>
            <a:r>
              <a:rPr lang="en-US" sz="1507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which may remove noisy variations from the data. Techniques include binning, regression, and clustering.</a:t>
            </a:r>
            <a:endParaRPr sz="222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" name="Google Shape;743;p10">
            <a:extLst>
              <a:ext uri="{FF2B5EF4-FFF2-40B4-BE49-F238E27FC236}">
                <a16:creationId xmlns:a16="http://schemas.microsoft.com/office/drawing/2014/main" id="{BE92860D-0345-C79C-CF58-5302C0765A03}"/>
              </a:ext>
            </a:extLst>
          </p:cNvPr>
          <p:cNvSpPr txBox="1">
            <a:spLocks/>
          </p:cNvSpPr>
          <p:nvPr/>
        </p:nvSpPr>
        <p:spPr>
          <a:xfrm>
            <a:off x="296657" y="690881"/>
            <a:ext cx="5480957" cy="5935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rmAutofit/>
          </a:bodyPr>
          <a:lstStyle>
            <a:lvl1pPr marL="725073" lvl="0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703"/>
              <a:buFont typeface="Cambria"/>
              <a:buNone/>
              <a:defRPr sz="2701" b="1" kern="12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450147" lvl="1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75220" lvl="2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900294" lvl="3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25367" lvl="4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50441" lvl="5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75514" lvl="6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00588" lvl="7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25661" lvl="8" indent="-362537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176"/>
              </a:lnSpc>
              <a:buClr>
                <a:srgbClr val="3333B2"/>
              </a:buClr>
              <a:buSzPts val="1700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Handling  Numeric  Data</a:t>
            </a:r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50"/>
          <p:cNvSpPr txBox="1">
            <a:spLocks noGrp="1"/>
          </p:cNvSpPr>
          <p:nvPr>
            <p:ph type="title"/>
          </p:nvPr>
        </p:nvSpPr>
        <p:spPr>
          <a:xfrm>
            <a:off x="219456" y="739746"/>
            <a:ext cx="2614298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  <a:sym typeface="Cambria"/>
              </a:rPr>
              <a:t>Discretization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  <a:sym typeface="Cambria"/>
            </a:endParaRPr>
          </a:p>
        </p:txBody>
      </p:sp>
      <p:pic>
        <p:nvPicPr>
          <p:cNvPr id="1087" name="Google Shape;1087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677620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3010712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3929724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50"/>
          <p:cNvSpPr txBox="1"/>
          <p:nvPr/>
        </p:nvSpPr>
        <p:spPr>
          <a:xfrm>
            <a:off x="646888" y="2481628"/>
            <a:ext cx="8256790" cy="2462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652" rIns="0" bIns="0" anchor="t" anchorCtr="0">
            <a:spAutoFit/>
          </a:bodyPr>
          <a:lstStyle/>
          <a:p>
            <a:pPr marL="60423" defTabSz="1450147">
              <a:buClr>
                <a:srgbClr val="000000"/>
              </a:buClr>
              <a:buSzPts val="1050"/>
            </a:pPr>
            <a:r>
              <a:rPr lang="en-US" sz="1665" kern="0" dirty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Convert continuous attribute into a discrete attribute</a:t>
            </a:r>
            <a:r>
              <a:rPr lang="en-US" sz="1665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65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0423" defTabSz="1450147">
              <a:spcBef>
                <a:spcPts val="626"/>
              </a:spcBef>
              <a:buClr>
                <a:srgbClr val="000000"/>
              </a:buClr>
              <a:buSzPts val="1050"/>
            </a:pPr>
            <a:r>
              <a:rPr lang="en-US" sz="1665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Discretization involves converting the raw values of a numeric attribute (e.g., age) into</a:t>
            </a:r>
            <a:endParaRPr sz="1665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91892" indent="-285750" defTabSz="1450147">
              <a:spcBef>
                <a:spcPts val="626"/>
              </a:spcBef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507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interval labels (e.g., 0–10, 11–20, etc.)</a:t>
            </a:r>
            <a:endParaRPr sz="1507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91892" indent="-285750" defTabSz="1450147">
              <a:spcBef>
                <a:spcPts val="341"/>
              </a:spcBef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507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conceptual labels (e.g., youth, adult, senior)</a:t>
            </a:r>
            <a:endParaRPr sz="1507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0423" defTabSz="1450147">
              <a:spcBef>
                <a:spcPts val="658"/>
              </a:spcBef>
              <a:buClr>
                <a:srgbClr val="000000"/>
              </a:buClr>
              <a:buSzPts val="1050"/>
            </a:pPr>
            <a:r>
              <a:rPr lang="en-US" sz="1665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Discretization Process</a:t>
            </a:r>
            <a:endParaRPr sz="1665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91892" indent="-285750" defTabSz="1450147">
              <a:spcBef>
                <a:spcPts val="626"/>
              </a:spcBef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507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raw data are replaced by a smaller number of interval or concept labels.</a:t>
            </a:r>
            <a:endParaRPr sz="1507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91892" indent="-285750" defTabSz="1450147">
              <a:spcBef>
                <a:spcPts val="341"/>
              </a:spcBef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507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simplifies the original data and makes the mining more efficient.</a:t>
            </a:r>
            <a:endParaRPr sz="1507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91892" indent="-285750" defTabSz="1450147">
              <a:spcBef>
                <a:spcPts val="341"/>
              </a:spcBef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507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Concept hierarchies are also useful for mining at multiple abstraction levels.</a:t>
            </a:r>
            <a:endParaRPr sz="1507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2" name="Google Shape;1092;p50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51"/>
          <p:cNvSpPr txBox="1"/>
          <p:nvPr/>
        </p:nvSpPr>
        <p:spPr>
          <a:xfrm>
            <a:off x="219456" y="676639"/>
            <a:ext cx="350755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 defTabSz="1450147">
              <a:buClr>
                <a:srgbClr val="000000"/>
              </a:buClr>
              <a:buSzPts val="1700"/>
            </a:pPr>
            <a:r>
              <a:rPr lang="en-US" sz="2701" b="1" dirty="0">
                <a:latin typeface="Calibri" panose="020F0502020204030204" pitchFamily="34" charset="0"/>
                <a:ea typeface="Cambria"/>
                <a:cs typeface="Calibri" panose="020F0502020204030204" pitchFamily="34" charset="0"/>
                <a:sym typeface="Calibri"/>
              </a:rPr>
              <a:t>Concept  Hierarchy</a:t>
            </a:r>
            <a:endParaRPr sz="2701" b="1" dirty="0">
              <a:latin typeface="Calibri" panose="020F0502020204030204" pitchFamily="34" charset="0"/>
              <a:ea typeface="Cambria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099" name="Google Shape;1099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160824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482998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1" name="Google Shape;1101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2805154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3127329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51"/>
          <p:cNvSpPr txBox="1"/>
          <p:nvPr/>
        </p:nvSpPr>
        <p:spPr>
          <a:xfrm>
            <a:off x="687170" y="1975787"/>
            <a:ext cx="7197375" cy="132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1233632" defTabSz="1450147">
              <a:lnSpc>
                <a:spcPct val="126899"/>
              </a:lnSpc>
              <a:buClr>
                <a:srgbClr val="000000"/>
              </a:buClr>
              <a:buSzPts val="1050"/>
            </a:pPr>
            <a:r>
              <a:rPr lang="en-US" sz="1665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Divide the range of a continuous attribute into intervals.  Interval labels can then be used to replace actual data values.</a:t>
            </a:r>
            <a:endParaRPr sz="1665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marR="8056" defTabSz="1450147">
              <a:lnSpc>
                <a:spcPct val="127000"/>
              </a:lnSpc>
              <a:buClr>
                <a:srgbClr val="000000"/>
              </a:buClr>
              <a:buSzPts val="1050"/>
            </a:pPr>
            <a:r>
              <a:rPr lang="en-US" sz="1665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labels, in turn, can be recursively organized into higher-level concepts.  This results in a concept hierarchy for the numeric attribute.</a:t>
            </a:r>
            <a:endParaRPr sz="1665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04" name="Google Shape;1104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27672" y="3450329"/>
            <a:ext cx="5279451" cy="2152565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51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52"/>
          <p:cNvSpPr txBox="1">
            <a:spLocks noGrp="1"/>
          </p:cNvSpPr>
          <p:nvPr>
            <p:ph type="title"/>
          </p:nvPr>
        </p:nvSpPr>
        <p:spPr>
          <a:xfrm>
            <a:off x="195489" y="756400"/>
            <a:ext cx="4730107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Discretization  Techniques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113" name="Google Shape;1113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720743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3583541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4719250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52"/>
          <p:cNvSpPr txBox="1"/>
          <p:nvPr/>
        </p:nvSpPr>
        <p:spPr>
          <a:xfrm>
            <a:off x="195489" y="2001839"/>
            <a:ext cx="8744202" cy="377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40282" defTabSz="1450147">
              <a:buClr>
                <a:srgbClr val="000000"/>
              </a:buClr>
              <a:buSzPts val="1050"/>
            </a:pPr>
            <a:r>
              <a:rPr lang="en-US" sz="1665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Discretization techniques can be categorized based on how the discretization is performed.</a:t>
            </a:r>
            <a:endParaRPr sz="1665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1450147">
              <a:buClr>
                <a:srgbClr val="000000"/>
              </a:buClr>
              <a:buSzPts val="1500"/>
            </a:pPr>
            <a:endParaRPr sz="2379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11580" defTabSz="1450147">
              <a:buClr>
                <a:srgbClr val="000000"/>
              </a:buClr>
              <a:buSzPts val="1050"/>
            </a:pPr>
            <a:r>
              <a:rPr lang="en-US" sz="1665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Supervised vs. Unsupervised discretization</a:t>
            </a:r>
            <a:endParaRPr sz="1665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43049" marR="815708" indent="-285750" defTabSz="1450147">
              <a:lnSpc>
                <a:spcPct val="118900"/>
              </a:lnSpc>
              <a:spcBef>
                <a:spcPts val="111"/>
              </a:spcBef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507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the discretization process uses class information, then we say it is supervised  discretization. Otherwise, it is unsupervised.</a:t>
            </a:r>
            <a:endParaRPr sz="1507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11580" defTabSz="1450147">
              <a:spcBef>
                <a:spcPts val="389"/>
              </a:spcBef>
              <a:buClr>
                <a:srgbClr val="000000"/>
              </a:buClr>
              <a:buSzPts val="1050"/>
            </a:pPr>
            <a:r>
              <a:rPr lang="en-US" sz="1665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Top-down discretization or Splitting</a:t>
            </a:r>
            <a:endParaRPr sz="1665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43049" marR="82576" indent="-285750" defTabSz="1450147">
              <a:lnSpc>
                <a:spcPct val="118900"/>
              </a:lnSpc>
              <a:spcBef>
                <a:spcPts val="103"/>
              </a:spcBef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507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process starts by first finding one or a few points (called split points or cut points) to  split the entire attribute range. Then the process repeats recursively on the resulting  intervals.</a:t>
            </a:r>
            <a:endParaRPr sz="1507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11580" defTabSz="1450147">
              <a:spcBef>
                <a:spcPts val="389"/>
              </a:spcBef>
              <a:buClr>
                <a:srgbClr val="000000"/>
              </a:buClr>
              <a:buSzPts val="1050"/>
            </a:pPr>
            <a:r>
              <a:rPr lang="en-US" sz="1665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Bottom-up discretization or Merging</a:t>
            </a:r>
            <a:endParaRPr sz="1665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43047" indent="-285750" defTabSz="1450147">
              <a:spcBef>
                <a:spcPts val="452"/>
              </a:spcBef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</a:pPr>
            <a:r>
              <a:rPr lang="en-US" sz="1507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process starts by considering all of the continuous values as potential split-points.</a:t>
            </a:r>
            <a:endParaRPr sz="1507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268627" marR="440079" indent="-285750" defTabSz="1450147">
              <a:lnSpc>
                <a:spcPct val="118900"/>
              </a:lnSpc>
              <a:buClr>
                <a:srgbClr val="000000"/>
              </a:buClr>
              <a:buSzPts val="950"/>
              <a:buFont typeface="Arial" panose="020B0604020202020204" pitchFamily="34" charset="0"/>
              <a:buChar char="•"/>
            </a:pPr>
            <a:r>
              <a:rPr lang="en-US" sz="1507" kern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Removes some by merging neighborhood values to form intervals. Then recursively  applies this process to the resulting intervals.</a:t>
            </a:r>
            <a:endParaRPr sz="1507" kern="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53"/>
          <p:cNvSpPr txBox="1">
            <a:spLocks noGrp="1"/>
          </p:cNvSpPr>
          <p:nvPr>
            <p:ph type="title"/>
          </p:nvPr>
        </p:nvSpPr>
        <p:spPr>
          <a:xfrm>
            <a:off x="231147" y="804765"/>
            <a:ext cx="4730107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Discretization</a:t>
            </a:r>
            <a:r>
              <a:rPr lang="en-US" dirty="0"/>
              <a:t>  </a:t>
            </a:r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Techniques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125" name="Google Shape;1125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800702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4265495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53"/>
          <p:cNvSpPr txBox="1"/>
          <p:nvPr/>
        </p:nvSpPr>
        <p:spPr>
          <a:xfrm>
            <a:off x="646887" y="2598907"/>
            <a:ext cx="5677738" cy="213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718" rIns="0" bIns="0" anchor="t" anchorCtr="0">
            <a:spAutoFit/>
          </a:bodyPr>
          <a:lstStyle/>
          <a:p>
            <a:pPr marL="60423" defTabSz="1450147"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Unsupervised discretization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626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Binning [ Equal-interval, Equal-frequency] (Top-down split)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341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Histogram analysis (Top-down split)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341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Clustering analysis (Top-down split or Bottom-up merge)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341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Correlation analysis (Bottom-up merge)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0423" defTabSz="1450147">
              <a:spcBef>
                <a:spcPts val="658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Supervised discretization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626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Entropy-based discretization (Top-down split)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54"/>
          <p:cNvSpPr txBox="1">
            <a:spLocks noGrp="1"/>
          </p:cNvSpPr>
          <p:nvPr>
            <p:ph type="title"/>
          </p:nvPr>
        </p:nvSpPr>
        <p:spPr>
          <a:xfrm>
            <a:off x="128276" y="642261"/>
            <a:ext cx="506344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Unsupervised  Discretization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136" name="Google Shape;1136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982536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3333693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3684831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4326945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54"/>
          <p:cNvSpPr txBox="1"/>
          <p:nvPr/>
        </p:nvSpPr>
        <p:spPr>
          <a:xfrm>
            <a:off x="687168" y="2768474"/>
            <a:ext cx="8138966" cy="174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811" rIns="0" bIns="0" anchor="t" anchorCtr="0">
            <a:spAutoFit/>
          </a:bodyPr>
          <a:lstStyle/>
          <a:p>
            <a:pPr marL="20141" defTabSz="1450147"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 labels are ignored.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defTabSz="1450147">
              <a:spcBef>
                <a:spcPts val="768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best number of bins </a:t>
            </a:r>
            <a:r>
              <a:rPr lang="en-US" sz="1665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determined experimentally.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marR="8056" defTabSz="1450147">
              <a:lnSpc>
                <a:spcPct val="114599"/>
              </a:lnSpc>
              <a:spcBef>
                <a:spcPts val="476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 specifies the </a:t>
            </a: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number of intervals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and/or </a:t>
            </a: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many data points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be included in  any given interval.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defTabSz="1450147">
              <a:spcBef>
                <a:spcPts val="768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Binning methods.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55"/>
          <p:cNvSpPr txBox="1">
            <a:spLocks noGrp="1"/>
          </p:cNvSpPr>
          <p:nvPr>
            <p:ph type="title"/>
          </p:nvPr>
        </p:nvSpPr>
        <p:spPr>
          <a:xfrm>
            <a:off x="125900" y="770606"/>
            <a:ext cx="6310166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Discretization  by  Binning  Methods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149" name="Google Shape;1149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9587" y="2303864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55"/>
          <p:cNvSpPr txBox="1"/>
          <p:nvPr/>
        </p:nvSpPr>
        <p:spPr>
          <a:xfrm>
            <a:off x="432325" y="2288243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>
              <a:buClr>
                <a:srgbClr val="000000"/>
              </a:buClr>
              <a:buSzPts val="600"/>
            </a:pPr>
            <a:r>
              <a:rPr lang="en-US" sz="952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55"/>
          <p:cNvSpPr txBox="1"/>
          <p:nvPr/>
        </p:nvSpPr>
        <p:spPr>
          <a:xfrm>
            <a:off x="646887" y="2151717"/>
            <a:ext cx="3060419" cy="66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718" rIns="0" bIns="0" anchor="t" anchorCtr="0">
            <a:spAutoFit/>
          </a:bodyPr>
          <a:lstStyle/>
          <a:p>
            <a:pPr algn="ctr" defTabSz="1450147"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Equal Width (distance) binning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2225" algn="ctr" defTabSz="1450147">
              <a:spcBef>
                <a:spcPts val="626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bin has equal width.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2" name="Google Shape;1152;p55"/>
          <p:cNvSpPr txBox="1"/>
          <p:nvPr/>
        </p:nvSpPr>
        <p:spPr>
          <a:xfrm>
            <a:off x="3618344" y="3120498"/>
            <a:ext cx="2817722" cy="286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19" rIns="0" bIns="0" anchor="t" anchorCtr="0">
            <a:spAutoFit/>
          </a:bodyPr>
          <a:lstStyle/>
          <a:p>
            <a:pPr marL="60423" defTabSz="1450147">
              <a:buClr>
                <a:srgbClr val="000000"/>
              </a:buClr>
              <a:buSzPts val="950"/>
            </a:pPr>
            <a:r>
              <a:rPr lang="en-US" sz="1507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width </a:t>
            </a:r>
            <a:r>
              <a:rPr lang="en-US" sz="1744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507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interval </a:t>
            </a:r>
            <a:r>
              <a:rPr lang="en-US" sz="1744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2617" u="sng" kern="0" baseline="30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max </a:t>
            </a:r>
            <a:r>
              <a:rPr lang="en-US" sz="2617" i="1" u="sng" kern="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−</a:t>
            </a:r>
            <a:r>
              <a:rPr lang="en-US" sz="2617" i="1" kern="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17" u="sng" kern="0" baseline="30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min</a:t>
            </a:r>
            <a:endParaRPr sz="2617" kern="0" baseline="30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53" name="Google Shape;1153;p55"/>
          <p:cNvSpPr txBox="1"/>
          <p:nvPr/>
        </p:nvSpPr>
        <p:spPr>
          <a:xfrm>
            <a:off x="5596067" y="3271212"/>
            <a:ext cx="586102" cy="286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19" rIns="0" bIns="0" anchor="t" anchorCtr="0">
            <a:spAutoFit/>
          </a:bodyPr>
          <a:lstStyle/>
          <a:p>
            <a:pPr marL="20141" defTabSz="1450147">
              <a:buClr>
                <a:srgbClr val="000000"/>
              </a:buClr>
              <a:buSzPts val="1100"/>
            </a:pPr>
            <a:r>
              <a:rPr lang="en-US" sz="1744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#</a:t>
            </a:r>
            <a:r>
              <a:rPr lang="en-US" sz="1507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bins</a:t>
            </a:r>
            <a:endParaRPr sz="1507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4" name="Google Shape;1154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9587" y="4379916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1155" name="Google Shape;1155;p55"/>
          <p:cNvSpPr txBox="1"/>
          <p:nvPr/>
        </p:nvSpPr>
        <p:spPr>
          <a:xfrm>
            <a:off x="432325" y="4364254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>
              <a:buClr>
                <a:srgbClr val="000000"/>
              </a:buClr>
              <a:buSzPts val="600"/>
            </a:pPr>
            <a:r>
              <a:rPr lang="en-US" sz="952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55"/>
          <p:cNvSpPr txBox="1"/>
          <p:nvPr/>
        </p:nvSpPr>
        <p:spPr>
          <a:xfrm>
            <a:off x="646887" y="3683977"/>
            <a:ext cx="7339369" cy="1759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1414" rIns="0" bIns="0" anchor="t" anchorCtr="0">
            <a:spAutoFit/>
          </a:bodyPr>
          <a:lstStyle/>
          <a:p>
            <a:pPr marL="306142" defTabSz="1450147"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Highly sensitive to outliers.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341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outliers are present, the width of each bin is large, resulting in skewed data.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0423" defTabSz="1450147">
              <a:spcBef>
                <a:spcPts val="658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Equal Depth (frequency) binning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626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Specify the number of values that have to be stored in each bin.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341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Number of entries in each bin are equal.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341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values can be stored in different bins.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56"/>
          <p:cNvSpPr txBox="1"/>
          <p:nvPr/>
        </p:nvSpPr>
        <p:spPr>
          <a:xfrm>
            <a:off x="215630" y="642261"/>
            <a:ext cx="3017117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 defTabSz="1450147">
              <a:buClr>
                <a:srgbClr val="000000"/>
              </a:buClr>
              <a:buSzPts val="1700"/>
            </a:pPr>
            <a:r>
              <a:rPr lang="en-US" sz="2701" b="1" dirty="0">
                <a:latin typeface="Calibri" panose="020F0502020204030204" pitchFamily="34" charset="0"/>
                <a:ea typeface="Cambria"/>
                <a:cs typeface="Calibri" panose="020F0502020204030204" pitchFamily="34" charset="0"/>
                <a:sym typeface="Calibri"/>
              </a:rPr>
              <a:t>Binning  Example</a:t>
            </a:r>
            <a:endParaRPr sz="2701" b="1" dirty="0">
              <a:latin typeface="Calibri" panose="020F0502020204030204" pitchFamily="34" charset="0"/>
              <a:ea typeface="Cambria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165" name="Google Shape;1165;p56"/>
          <p:cNvSpPr txBox="1"/>
          <p:nvPr/>
        </p:nvSpPr>
        <p:spPr>
          <a:xfrm>
            <a:off x="215630" y="3244566"/>
            <a:ext cx="8655581" cy="60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379" rIns="0" bIns="0" anchor="t" anchorCtr="0">
            <a:spAutoFit/>
          </a:bodyPr>
          <a:lstStyle/>
          <a:p>
            <a:pPr marL="20141" defTabSz="1450147"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Discretize the following data into 3 discrete categories using binning technique.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defTabSz="1450147">
              <a:spcBef>
                <a:spcPts val="293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70, 70, 72, 73, 75, 75, 76, 76, 78, 79, 80, 81, 53, 56, 57, 63, 66, 67, 67, 67, 68, 69, 70, 70.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57"/>
          <p:cNvSpPr txBox="1"/>
          <p:nvPr/>
        </p:nvSpPr>
        <p:spPr>
          <a:xfrm>
            <a:off x="219456" y="732296"/>
            <a:ext cx="3017117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 defTabSz="1450147">
              <a:buClr>
                <a:srgbClr val="000000"/>
              </a:buClr>
              <a:buSzPts val="1700"/>
            </a:pPr>
            <a:r>
              <a:rPr lang="en-US" sz="2701" b="1" dirty="0">
                <a:latin typeface="Calibri" panose="020F0502020204030204" pitchFamily="34" charset="0"/>
                <a:ea typeface="Cambria"/>
                <a:cs typeface="Calibri" panose="020F0502020204030204" pitchFamily="34" charset="0"/>
                <a:sym typeface="Calibri"/>
              </a:rPr>
              <a:t>Binning  Example</a:t>
            </a:r>
            <a:endParaRPr sz="2701" b="1" dirty="0">
              <a:latin typeface="Calibri" panose="020F0502020204030204" pitchFamily="34" charset="0"/>
              <a:ea typeface="Cambria"/>
              <a:cs typeface="Calibri" panose="020F0502020204030204" pitchFamily="34" charset="0"/>
              <a:sym typeface="Calibri"/>
            </a:endParaRPr>
          </a:p>
        </p:txBody>
      </p:sp>
      <p:graphicFrame>
        <p:nvGraphicFramePr>
          <p:cNvPr id="1174" name="Google Shape;1174;p57"/>
          <p:cNvGraphicFramePr/>
          <p:nvPr/>
        </p:nvGraphicFramePr>
        <p:xfrm>
          <a:off x="962878" y="2455566"/>
          <a:ext cx="7201427" cy="265431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90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1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6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6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6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355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Original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Data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53, 56, 57, 63, 66, 67, 67, 67, 68, 69, 70, 70,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75565" marR="0" lvl="0" indent="0" algn="l" rtl="0">
                        <a:lnSpc>
                          <a:spcPct val="10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70, 70, 72, 73, 75, 75, 76, 76, 78, 79, 80, 81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8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Method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Bin1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Bin 2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Bin 3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7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Equal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width=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[53, 62) =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[62, 72) =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[72, 81] =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97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Width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81-53 = 28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53, 56, 57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63, 66, 67, 67,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72, 73, 75, 75,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93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28/3 = 9.33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67, 68, 69, 70,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76, 76, 78,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13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70, 70, 70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79, 80, 81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Equal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depth =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53, 56, 57, 63,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68, 69, 70, 70,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75, 75, 76, 76,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17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Depth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24 /3 = 8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66, 67, 67, 67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70, 70, 72, 73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78, 79, 80, 81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76" name="Google Shape;1176;p57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59"/>
          <p:cNvSpPr txBox="1">
            <a:spLocks noGrp="1"/>
          </p:cNvSpPr>
          <p:nvPr>
            <p:ph type="title"/>
          </p:nvPr>
        </p:nvSpPr>
        <p:spPr>
          <a:xfrm>
            <a:off x="128277" y="643499"/>
            <a:ext cx="6793549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Discretization  by  Histogram  Analysis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203" name="Google Shape;1203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236091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4" name="Google Shape;1204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878205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3520298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4162394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4804507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8" name="Google Shape;1208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5155665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59"/>
          <p:cNvSpPr txBox="1"/>
          <p:nvPr/>
        </p:nvSpPr>
        <p:spPr>
          <a:xfrm>
            <a:off x="687170" y="2082232"/>
            <a:ext cx="8212480" cy="3580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215508" defTabSz="1450147">
              <a:lnSpc>
                <a:spcPct val="114700"/>
              </a:lnSpc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Histogram analysis is an unsupervised discretization technique because it does not  use class information.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marR="242698" defTabSz="1450147">
              <a:lnSpc>
                <a:spcPct val="114700"/>
              </a:lnSpc>
              <a:spcBef>
                <a:spcPts val="468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Histograms use binning to approximate data distributions and are a popular form of  data reduction.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marR="767368" defTabSz="1450147">
              <a:lnSpc>
                <a:spcPct val="114700"/>
              </a:lnSpc>
              <a:spcBef>
                <a:spcPts val="476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histogram for an attribute, X, partitions the data distribution of X into disjoint  subsets, referred to as buckets or bins.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marR="8056" defTabSz="1450147">
              <a:lnSpc>
                <a:spcPct val="114700"/>
              </a:lnSpc>
              <a:spcBef>
                <a:spcPts val="468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each bucket represents only a single attribute–value/frequency pair, the buckets are  called singleton buckets.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defTabSz="1450147">
              <a:spcBef>
                <a:spcPts val="768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Often, buckets represent continuous ranges for the given attribute.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marR="35247" defTabSz="1450147">
              <a:lnSpc>
                <a:spcPct val="114700"/>
              </a:lnSpc>
              <a:spcBef>
                <a:spcPts val="476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histogram analysis algorithm can be applied recursively to each partition in order  to automatically generate a multilevel concept hierarchy.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1" name="Google Shape;1211;p59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60"/>
          <p:cNvSpPr txBox="1">
            <a:spLocks noGrp="1"/>
          </p:cNvSpPr>
          <p:nvPr>
            <p:ph type="title"/>
          </p:nvPr>
        </p:nvSpPr>
        <p:spPr>
          <a:xfrm>
            <a:off x="169527" y="750901"/>
            <a:ext cx="6793549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Discretization  by  Histogram  Analysis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218" name="Google Shape;1218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9587" y="2101630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60"/>
          <p:cNvSpPr txBox="1"/>
          <p:nvPr/>
        </p:nvSpPr>
        <p:spPr>
          <a:xfrm>
            <a:off x="432325" y="2086007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>
              <a:buClr>
                <a:srgbClr val="000000"/>
              </a:buClr>
              <a:buSzPts val="600"/>
            </a:pPr>
            <a:r>
              <a:rPr lang="en-US" sz="952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0" name="Google Shape;1220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9587" y="2716412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60"/>
          <p:cNvSpPr txBox="1"/>
          <p:nvPr/>
        </p:nvSpPr>
        <p:spPr>
          <a:xfrm>
            <a:off x="432325" y="2700791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>
              <a:buClr>
                <a:srgbClr val="000000"/>
              </a:buClr>
              <a:buSzPts val="600"/>
            </a:pPr>
            <a:r>
              <a:rPr lang="en-US" sz="952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60"/>
          <p:cNvSpPr txBox="1"/>
          <p:nvPr/>
        </p:nvSpPr>
        <p:spPr>
          <a:xfrm>
            <a:off x="646886" y="1963233"/>
            <a:ext cx="8032219" cy="1541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0634" rIns="0" bIns="0" anchor="t" anchorCtr="0">
            <a:spAutoFit/>
          </a:bodyPr>
          <a:lstStyle/>
          <a:p>
            <a:pPr marL="60423" defTabSz="1450147"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Equal Width Histogram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523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values are partitioned into equal size partitions or ranges.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0423" defTabSz="1450147">
              <a:spcBef>
                <a:spcPts val="507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Equal Frequency Histogram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31721" marR="48338" indent="-225578" defTabSz="1450147">
              <a:lnSpc>
                <a:spcPct val="118900"/>
              </a:lnSpc>
              <a:spcBef>
                <a:spcPts val="181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values are partitioned such that each partition contains the same number of data  objects.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23" name="Google Shape;1223;p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238" y="3677679"/>
            <a:ext cx="7992439" cy="1904831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60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61"/>
          <p:cNvSpPr txBox="1">
            <a:spLocks noGrp="1"/>
          </p:cNvSpPr>
          <p:nvPr>
            <p:ph type="title"/>
          </p:nvPr>
        </p:nvSpPr>
        <p:spPr>
          <a:xfrm>
            <a:off x="188679" y="763515"/>
            <a:ext cx="4588113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Variable  Transformation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233" name="Google Shape;1233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3061528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3394620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61"/>
          <p:cNvSpPr txBox="1"/>
          <p:nvPr/>
        </p:nvSpPr>
        <p:spPr>
          <a:xfrm>
            <a:off x="687168" y="2865534"/>
            <a:ext cx="8179248" cy="972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652" rIns="0" bIns="0" anchor="t" anchorCtr="0">
            <a:spAutoFit/>
          </a:bodyPr>
          <a:lstStyle/>
          <a:p>
            <a:pPr marL="20141" defTabSz="1450147"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Variable transformation involves changing the values of an attribute.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marR="8056" defTabSz="1450147">
              <a:lnSpc>
                <a:spcPct val="107500"/>
              </a:lnSpc>
              <a:spcBef>
                <a:spcPts val="476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each object (tuple), a transformation is applied to the value of the variable for that  object.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36" name="Google Shape;1236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0211" y="3936794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1237" name="Google Shape;1237;p61"/>
          <p:cNvSpPr txBox="1"/>
          <p:nvPr/>
        </p:nvSpPr>
        <p:spPr>
          <a:xfrm>
            <a:off x="912949" y="3921173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>
              <a:buClr>
                <a:srgbClr val="000000"/>
              </a:buClr>
              <a:buSzPts val="600"/>
            </a:pPr>
            <a:r>
              <a:rPr lang="en-US" sz="952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8" name="Google Shape;1238;p6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0211" y="4209684"/>
            <a:ext cx="192305" cy="192305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61"/>
          <p:cNvSpPr txBox="1"/>
          <p:nvPr/>
        </p:nvSpPr>
        <p:spPr>
          <a:xfrm>
            <a:off x="912949" y="4194063"/>
            <a:ext cx="106747" cy="16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>
              <a:buClr>
                <a:srgbClr val="000000"/>
              </a:buClr>
              <a:buSzPts val="600"/>
            </a:pPr>
            <a:r>
              <a:rPr lang="en-US" sz="952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61"/>
          <p:cNvSpPr txBox="1"/>
          <p:nvPr/>
        </p:nvSpPr>
        <p:spPr>
          <a:xfrm>
            <a:off x="1158709" y="3840954"/>
            <a:ext cx="2960722" cy="570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19" rIns="0" bIns="0" anchor="t" anchorCtr="0">
            <a:spAutoFit/>
          </a:bodyPr>
          <a:lstStyle/>
          <a:p>
            <a:pPr marL="20141" marR="8056" defTabSz="1450147">
              <a:lnSpc>
                <a:spcPct val="118900"/>
              </a:lnSpc>
              <a:buClr>
                <a:srgbClr val="000000"/>
              </a:buClr>
              <a:buSzPts val="950"/>
            </a:pP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 functional transformations  Normalization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62"/>
          <p:cNvSpPr txBox="1">
            <a:spLocks noGrp="1"/>
          </p:cNvSpPr>
          <p:nvPr>
            <p:ph type="title"/>
          </p:nvPr>
        </p:nvSpPr>
        <p:spPr>
          <a:xfrm>
            <a:off x="139707" y="720866"/>
            <a:ext cx="6317213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Simple  Functional  Transformation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251" name="Google Shape;1251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454" y="2193823"/>
            <a:ext cx="8660620" cy="3153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63"/>
          <p:cNvSpPr txBox="1">
            <a:spLocks noGrp="1"/>
          </p:cNvSpPr>
          <p:nvPr>
            <p:ph type="title"/>
          </p:nvPr>
        </p:nvSpPr>
        <p:spPr>
          <a:xfrm>
            <a:off x="105417" y="766726"/>
            <a:ext cx="6317213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Simple  Functional  Transformation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257" name="Google Shape;1257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688295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258" name="Google Shape;1258;p63"/>
          <p:cNvSpPr txBox="1"/>
          <p:nvPr/>
        </p:nvSpPr>
        <p:spPr>
          <a:xfrm>
            <a:off x="687169" y="2534436"/>
            <a:ext cx="8171191" cy="60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8056" defTabSz="1450147">
              <a:lnSpc>
                <a:spcPct val="114700"/>
              </a:lnSpc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Variable transformations should be applied with caution since they change the nature  of the data.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59" name="Google Shape;1259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3330410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p63"/>
          <p:cNvSpPr txBox="1"/>
          <p:nvPr/>
        </p:nvSpPr>
        <p:spPr>
          <a:xfrm>
            <a:off x="646888" y="3207457"/>
            <a:ext cx="7777435" cy="281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60423" defTabSz="1450147"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instance, the transformation </a:t>
            </a:r>
            <a:r>
              <a:rPr lang="en-US" sz="1665" u="sng" kern="0" baseline="30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665" kern="0" baseline="30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reduces the magnitude of values that are 1 or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61" name="Google Shape;1261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3954437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63"/>
          <p:cNvSpPr txBox="1"/>
          <p:nvPr/>
        </p:nvSpPr>
        <p:spPr>
          <a:xfrm>
            <a:off x="646888" y="3362712"/>
            <a:ext cx="8212480" cy="1679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154" rIns="0" bIns="0" anchor="t" anchorCtr="0">
            <a:spAutoFit/>
          </a:bodyPr>
          <a:lstStyle/>
          <a:p>
            <a:pPr marR="1745212" algn="ctr" defTabSz="1450147">
              <a:lnSpc>
                <a:spcPct val="108571"/>
              </a:lnSpc>
              <a:buClr>
                <a:srgbClr val="000000"/>
              </a:buClr>
              <a:buSzPts val="700"/>
            </a:pPr>
            <a:r>
              <a:rPr lang="en-US" sz="1110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11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423" defTabSz="1450147">
              <a:lnSpc>
                <a:spcPct val="112380"/>
              </a:lnSpc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larger, but increases the magnitude of values between 0 and 1.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0423" defTabSz="1450147">
              <a:spcBef>
                <a:spcPts val="626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understand the effect of a transformation, it is important to ask questions such as: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626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Does the order need to be maintained?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341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Does the transformation apply to all values, especially negative values and 0?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341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the effect of the transformation on the values between 0 and 1?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4" name="Google Shape;1264;p63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64"/>
          <p:cNvSpPr txBox="1">
            <a:spLocks noGrp="1"/>
          </p:cNvSpPr>
          <p:nvPr>
            <p:ph type="title"/>
          </p:nvPr>
        </p:nvSpPr>
        <p:spPr>
          <a:xfrm>
            <a:off x="219456" y="790923"/>
            <a:ext cx="2614298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Normalization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271" name="Google Shape;1271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491337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2842475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3" name="Google Shape;1273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3466523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64"/>
          <p:cNvSpPr txBox="1"/>
          <p:nvPr/>
        </p:nvSpPr>
        <p:spPr>
          <a:xfrm>
            <a:off x="646886" y="2277277"/>
            <a:ext cx="8261826" cy="2978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811" rIns="0" bIns="0" anchor="t" anchorCtr="0">
            <a:spAutoFit/>
          </a:bodyPr>
          <a:lstStyle/>
          <a:p>
            <a:pPr marL="60423" defTabSz="1450147"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Normalizing the data attempts to give all attributes an equal weight.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0423" marR="48338" defTabSz="1450147">
              <a:lnSpc>
                <a:spcPct val="114599"/>
              </a:lnSpc>
              <a:spcBef>
                <a:spcPts val="476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goal of standardization or normalization is to make an entire set of values have a  particular property.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0423" defTabSz="1450147">
              <a:spcBef>
                <a:spcPts val="626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Normalization is particularly useful for: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373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classification algorithms involving neural networks.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38265" marR="156092" indent="-271903" defTabSz="1450147">
              <a:lnSpc>
                <a:spcPct val="110700"/>
              </a:lnSpc>
              <a:spcBef>
                <a:spcPts val="301"/>
              </a:spcBef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142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normalizing the input values for each attribute in the training tuples will help speed up the  learning phase.</a:t>
            </a:r>
            <a:endParaRPr sz="142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420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distance measurements such as nearest-neighbor classification and clustering.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38265" marR="671698" indent="-271903" defTabSz="1450147">
              <a:lnSpc>
                <a:spcPct val="110700"/>
              </a:lnSpc>
              <a:spcBef>
                <a:spcPts val="301"/>
              </a:spcBef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142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normalization helps prevent attributes with initially large ranges (e.g., income) from  outweighing attributes with initially smaller ranges (e.g., binary attributes).</a:t>
            </a:r>
            <a:endParaRPr sz="142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6" name="Google Shape;1276;p64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65"/>
          <p:cNvSpPr txBox="1">
            <a:spLocks noGrp="1"/>
          </p:cNvSpPr>
          <p:nvPr>
            <p:ph type="title"/>
          </p:nvPr>
        </p:nvSpPr>
        <p:spPr>
          <a:xfrm>
            <a:off x="311157" y="720866"/>
            <a:ext cx="408962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Why  Feature  Scaling?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283" name="Google Shape;1283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958466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3309604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3660761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6" name="Google Shape;1286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4011899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7" name="Google Shape;1287;p6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9537" y="4363058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65"/>
          <p:cNvSpPr txBox="1"/>
          <p:nvPr/>
        </p:nvSpPr>
        <p:spPr>
          <a:xfrm>
            <a:off x="687170" y="2744426"/>
            <a:ext cx="8133930" cy="1792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8056" defTabSz="1450147">
              <a:lnSpc>
                <a:spcPct val="138400"/>
              </a:lnSpc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Features with bigger magnitude </a:t>
            </a: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dominate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 the features with smaller magnitudes.  Good practice to have all variables within a similar scale.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defTabSz="1450147">
              <a:spcBef>
                <a:spcPts val="761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Euclidean distances are sensitive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feature magnitude.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marR="396776" defTabSz="1450147">
              <a:lnSpc>
                <a:spcPct val="138400"/>
              </a:lnSpc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Gradient descent converges faster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all the variables are in the similar scale.  Feature scaling helps </a:t>
            </a: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decrease the time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finding support vectors.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66"/>
          <p:cNvSpPr txBox="1">
            <a:spLocks noGrp="1"/>
          </p:cNvSpPr>
          <p:nvPr>
            <p:ph type="title"/>
          </p:nvPr>
        </p:nvSpPr>
        <p:spPr>
          <a:xfrm>
            <a:off x="219456" y="642261"/>
            <a:ext cx="408962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Why  Feature  Scaling?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297" name="Google Shape;1297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141187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66"/>
          <p:cNvSpPr txBox="1"/>
          <p:nvPr/>
        </p:nvSpPr>
        <p:spPr>
          <a:xfrm>
            <a:off x="687169" y="1987348"/>
            <a:ext cx="8189318" cy="90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8056" defTabSz="1450147">
              <a:lnSpc>
                <a:spcPct val="114599"/>
              </a:lnSpc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distance-based methods, normalization helps prevent attributes with initially large  ranges (e.g., income) from out-weighing attributes with initially smaller ranges (e.g.,  binary attributes).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99" name="Google Shape;1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8921" y="2998971"/>
            <a:ext cx="5037004" cy="2651054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66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67"/>
          <p:cNvSpPr txBox="1">
            <a:spLocks noGrp="1"/>
          </p:cNvSpPr>
          <p:nvPr>
            <p:ph type="title"/>
          </p:nvPr>
        </p:nvSpPr>
        <p:spPr>
          <a:xfrm>
            <a:off x="82297" y="687102"/>
            <a:ext cx="6517226" cy="455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Algorithms  Sensitive  to  Feature  Magnitude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308" name="Google Shape;1308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678285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9" name="Google Shape;1309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3029423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9537" y="3380581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1" name="Google Shape;1311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3731718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2" name="Google Shape;1312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9537" y="4082876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3" name="Google Shape;1313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4434033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4" name="Google Shape;1314;p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9537" y="4785171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67"/>
          <p:cNvSpPr txBox="1"/>
          <p:nvPr/>
        </p:nvSpPr>
        <p:spPr>
          <a:xfrm>
            <a:off x="687169" y="2464246"/>
            <a:ext cx="3572001" cy="249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565960" defTabSz="1450147">
              <a:lnSpc>
                <a:spcPct val="138400"/>
              </a:lnSpc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Linear and Logistic Regression  Neural Networks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marR="1114800" defTabSz="1450147">
              <a:lnSpc>
                <a:spcPct val="138400"/>
              </a:lnSpc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Support Vector Machines  KNN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defTabSz="1450147">
              <a:spcBef>
                <a:spcPts val="761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K-Means Clustering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marR="8056" defTabSz="1450147">
              <a:lnSpc>
                <a:spcPct val="138400"/>
              </a:lnSpc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Linear Discriminant Analysis (LDA)  Principal Component Analysis (PCA)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7" name="Google Shape;1317;p67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68"/>
          <p:cNvSpPr txBox="1">
            <a:spLocks noGrp="1"/>
          </p:cNvSpPr>
          <p:nvPr>
            <p:ph type="title"/>
          </p:nvPr>
        </p:nvSpPr>
        <p:spPr>
          <a:xfrm>
            <a:off x="126888" y="755889"/>
            <a:ext cx="2614298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Normalization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324" name="Google Shape;1324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904287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5" name="Google Shape;1325;p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3237379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6" name="Google Shape;1326;p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4447347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68"/>
          <p:cNvSpPr txBox="1"/>
          <p:nvPr/>
        </p:nvSpPr>
        <p:spPr>
          <a:xfrm>
            <a:off x="626746" y="2681449"/>
            <a:ext cx="8115804" cy="1916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132" rIns="0" bIns="0" anchor="t" anchorCtr="0">
            <a:spAutoFit/>
          </a:bodyPr>
          <a:lstStyle/>
          <a:p>
            <a:pPr marL="80564" marR="28197" defTabSz="1450147">
              <a:lnSpc>
                <a:spcPct val="125299"/>
              </a:lnSpc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Scale the feature magnitude to a standard range like </a:t>
            </a:r>
            <a:r>
              <a:rPr lang="en-US" sz="1903" kern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1903" i="1" kern="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903" kern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] </a:t>
            </a: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 </a:t>
            </a:r>
            <a:r>
              <a:rPr lang="en-US" sz="1903" kern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lang="en-US" sz="1903" i="1" kern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−</a:t>
            </a: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903" i="1" kern="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903" kern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903" kern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]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 any other.  Techniques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26283" defTabSz="1450147">
              <a:spcBef>
                <a:spcPts val="626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Min-Max normalization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26283" defTabSz="1450147">
              <a:spcBef>
                <a:spcPts val="341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z-score normalization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26283" defTabSz="1450147">
              <a:spcBef>
                <a:spcPts val="341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Normalization by decimal scaling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80564" defTabSz="1450147">
              <a:spcBef>
                <a:spcPts val="801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Impact of outliers in the data ???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69"/>
          <p:cNvSpPr txBox="1">
            <a:spLocks noGrp="1"/>
          </p:cNvSpPr>
          <p:nvPr>
            <p:ph type="title"/>
          </p:nvPr>
        </p:nvSpPr>
        <p:spPr>
          <a:xfrm>
            <a:off x="219456" y="686574"/>
            <a:ext cx="3079554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Min-Max  Scaling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336" name="Google Shape;1336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181307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7" name="Google Shape;1337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2819010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8" name="Google Shape;1338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3165738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339" name="Google Shape;1339;p69"/>
          <p:cNvSpPr txBox="1"/>
          <p:nvPr/>
        </p:nvSpPr>
        <p:spPr>
          <a:xfrm>
            <a:off x="687169" y="2058354"/>
            <a:ext cx="8018120" cy="1573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Min-max scaling squeezes (or stretches) all feature values to be within the range of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defTabSz="1450147">
              <a:spcBef>
                <a:spcPts val="56"/>
              </a:spcBef>
              <a:buClr>
                <a:srgbClr val="000000"/>
              </a:buClr>
              <a:buSzPts val="1200"/>
            </a:pPr>
            <a:r>
              <a:rPr lang="en-US" sz="1903" kern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1903" i="1" kern="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903" kern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defTabSz="1450147">
              <a:spcBef>
                <a:spcPts val="682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Min-Max normalization preserves the relationships among the original data values.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marR="8056" defTabSz="1450147">
              <a:lnSpc>
                <a:spcPct val="114599"/>
              </a:lnSpc>
              <a:spcBef>
                <a:spcPts val="444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will encounter an ”out-of-bounds” error if a future input case for normalization falls  outside of the original data range for </a:t>
            </a:r>
            <a:r>
              <a:rPr lang="en-US" sz="1665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1" name="Google Shape;1341;p69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2" name="Google Shape;1342;p6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340" y="3741822"/>
            <a:ext cx="7436656" cy="1367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70"/>
          <p:cNvSpPr txBox="1">
            <a:spLocks noGrp="1"/>
          </p:cNvSpPr>
          <p:nvPr>
            <p:ph type="title"/>
          </p:nvPr>
        </p:nvSpPr>
        <p:spPr>
          <a:xfrm>
            <a:off x="116847" y="642261"/>
            <a:ext cx="4305132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Min-Max  Normalization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sp>
        <p:nvSpPr>
          <p:cNvPr id="1349" name="Google Shape;1349;p70"/>
          <p:cNvSpPr txBox="1"/>
          <p:nvPr/>
        </p:nvSpPr>
        <p:spPr>
          <a:xfrm>
            <a:off x="215630" y="2319070"/>
            <a:ext cx="8703920" cy="902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379" rIns="0" bIns="0" anchor="t" anchorCtr="0">
            <a:spAutoFit/>
          </a:bodyPr>
          <a:lstStyle/>
          <a:p>
            <a:pPr marL="20141" defTabSz="1450147"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Suppose that the minimum and maximum values for the attribute income are $12,000 and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defTabSz="1450147">
              <a:spcBef>
                <a:spcPts val="293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$98,000, respectively. The new range is [0.0,1.0]. Apply min-max normalization to value of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defTabSz="1450147">
              <a:spcBef>
                <a:spcPts val="285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$73,600.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1" name="Google Shape;1351;p70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2" name="Google Shape;1352;p7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2476" y="3232468"/>
            <a:ext cx="6009938" cy="216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71"/>
          <p:cNvSpPr txBox="1">
            <a:spLocks noGrp="1"/>
          </p:cNvSpPr>
          <p:nvPr>
            <p:ph type="title"/>
          </p:nvPr>
        </p:nvSpPr>
        <p:spPr>
          <a:xfrm>
            <a:off x="219456" y="751281"/>
            <a:ext cx="403625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z-score  Normalization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358" name="Google Shape;1358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330934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9" name="Google Shape;1359;p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2973028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0" name="Google Shape;1360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3324187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1" name="Google Shape;1361;p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5029764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p71"/>
          <p:cNvSpPr txBox="1"/>
          <p:nvPr/>
        </p:nvSpPr>
        <p:spPr>
          <a:xfrm>
            <a:off x="626746" y="2207982"/>
            <a:ext cx="8262833" cy="3317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19" rIns="0" bIns="0" anchor="t" anchorCtr="0">
            <a:spAutoFit/>
          </a:bodyPr>
          <a:lstStyle/>
          <a:p>
            <a:pPr marL="80564" marR="160120" defTabSz="1450147">
              <a:lnSpc>
                <a:spcPct val="102699"/>
              </a:lnSpc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z-score normalization (or zero-mean normalization), the values for an attribute, </a:t>
            </a:r>
            <a:r>
              <a:rPr lang="en-US" sz="1665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are normalized based on the mean </a:t>
            </a:r>
            <a:r>
              <a:rPr lang="en-US" sz="1903" i="1" ker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µ</a:t>
            </a:r>
            <a:r>
              <a:rPr lang="en-US" sz="1903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903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standard deviation </a:t>
            </a:r>
            <a:r>
              <a:rPr lang="en-US" sz="1903" i="1" ker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σ</a:t>
            </a:r>
            <a:r>
              <a:rPr lang="en-US" sz="1903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903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</a:t>
            </a:r>
            <a:r>
              <a:rPr lang="en-US" sz="1665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80564" marR="1925473" defTabSz="1450147">
              <a:lnSpc>
                <a:spcPct val="126499"/>
              </a:lnSpc>
              <a:spcBef>
                <a:spcPts val="190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resulting scaled feature has a mean of 0 and a variance of 1.  New range is </a:t>
            </a:r>
            <a:r>
              <a:rPr lang="en-US" sz="1903" kern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lang="en-US" sz="1903" i="1" kern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−</a:t>
            </a: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lang="en-US" sz="1903" i="1" kern="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σ, </a:t>
            </a:r>
            <a:r>
              <a:rPr lang="en-US" sz="1903" kern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lang="en-US" sz="1903" i="1" kern="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σ</a:t>
            </a:r>
            <a:r>
              <a:rPr lang="en-US" sz="1903" kern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6465" algn="ctr" defTabSz="1450147">
              <a:spcBef>
                <a:spcPts val="1665"/>
              </a:spcBef>
              <a:buClr>
                <a:srgbClr val="000000"/>
              </a:buClr>
              <a:buSzPts val="1575"/>
            </a:pPr>
            <a:r>
              <a:rPr lang="en-US" sz="2498" i="1" kern="0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855" kern="0" baseline="-25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ˆ = </a:t>
            </a:r>
            <a:r>
              <a:rPr lang="en-US" sz="1665" i="1" u="sng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903" i="1" u="sng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− </a:t>
            </a:r>
            <a:r>
              <a:rPr lang="en-US" sz="1903" i="1" u="sng" ker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µ</a:t>
            </a:r>
            <a:r>
              <a:rPr lang="en-US" sz="1903" u="sng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 u="sng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903" u="sng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903" kern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535749" algn="ctr" defTabSz="1450147">
              <a:spcBef>
                <a:spcPts val="301"/>
              </a:spcBef>
              <a:buClr>
                <a:srgbClr val="000000"/>
              </a:buClr>
              <a:buSzPts val="1200"/>
            </a:pPr>
            <a:r>
              <a:rPr lang="en-US" sz="1903" i="1" ker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σ</a:t>
            </a:r>
            <a:r>
              <a:rPr lang="en-US" sz="1903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665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903" kern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903" kern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defTabSz="1450147">
              <a:buClr>
                <a:srgbClr val="000000"/>
              </a:buClr>
              <a:buSzPts val="1300"/>
            </a:pPr>
            <a:endParaRPr sz="2062" kern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defTabSz="1450147">
              <a:spcBef>
                <a:spcPts val="63"/>
              </a:spcBef>
              <a:buClr>
                <a:srgbClr val="000000"/>
              </a:buClr>
              <a:buSzPts val="1200"/>
            </a:pPr>
            <a:endParaRPr sz="1903" kern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80564" defTabSz="1450147"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z-score normalization is useful when the actual minimum and maximum of attribute </a:t>
            </a:r>
            <a:r>
              <a:rPr lang="en-US" sz="1665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665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564" defTabSz="1450147">
              <a:spcBef>
                <a:spcPts val="293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are unknown, or when there are outliers that dominate the min-max normalization.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4" name="Google Shape;1364;p71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72"/>
          <p:cNvSpPr txBox="1">
            <a:spLocks noGrp="1"/>
          </p:cNvSpPr>
          <p:nvPr>
            <p:ph type="title"/>
          </p:nvPr>
        </p:nvSpPr>
        <p:spPr>
          <a:xfrm>
            <a:off x="219456" y="768696"/>
            <a:ext cx="403625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z-score  Normalization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sp>
        <p:nvSpPr>
          <p:cNvPr id="1371" name="Google Shape;1371;p72"/>
          <p:cNvSpPr txBox="1"/>
          <p:nvPr/>
        </p:nvSpPr>
        <p:spPr>
          <a:xfrm>
            <a:off x="175347" y="2436248"/>
            <a:ext cx="8784634" cy="939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379" rIns="0" bIns="0" anchor="t" anchorCtr="0">
            <a:spAutoFit/>
          </a:bodyPr>
          <a:lstStyle/>
          <a:p>
            <a:pPr marL="60423" defTabSz="1450147"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Suppose that the mean and standard deviation of the values for the attribute income are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0423" defTabSz="1450147">
              <a:spcBef>
                <a:spcPts val="293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$54,000 and $16,000, respectively. Apply z-score normalization to value of $73,600.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164147" algn="ctr" defTabSz="1450147">
              <a:spcBef>
                <a:spcPts val="301"/>
              </a:spcBef>
              <a:buClr>
                <a:srgbClr val="000000"/>
              </a:buClr>
              <a:buSzPts val="1200"/>
            </a:pPr>
            <a:endParaRPr sz="1903" kern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72" name="Google Shape;1372;p72"/>
          <p:cNvSpPr txBox="1"/>
          <p:nvPr/>
        </p:nvSpPr>
        <p:spPr>
          <a:xfrm>
            <a:off x="3746260" y="3843033"/>
            <a:ext cx="1814590" cy="29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defTabSz="1450147">
              <a:lnSpc>
                <a:spcPct val="93750"/>
              </a:lnSpc>
              <a:buClr>
                <a:srgbClr val="000000"/>
              </a:buClr>
              <a:buSzPts val="1200"/>
            </a:pPr>
            <a:endParaRPr sz="1903" kern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74" name="Google Shape;1374;p72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6" name="Google Shape;1376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81489" y="3324490"/>
            <a:ext cx="2262291" cy="169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73"/>
          <p:cNvSpPr txBox="1">
            <a:spLocks noGrp="1"/>
          </p:cNvSpPr>
          <p:nvPr>
            <p:ph type="title"/>
          </p:nvPr>
        </p:nvSpPr>
        <p:spPr>
          <a:xfrm>
            <a:off x="219456" y="744060"/>
            <a:ext cx="4185293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Decimal  Normalization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382" name="Google Shape;1382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556372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3" name="Google Shape;1383;p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2907530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4" name="Google Shape;138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3258668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73"/>
          <p:cNvSpPr txBox="1"/>
          <p:nvPr/>
        </p:nvSpPr>
        <p:spPr>
          <a:xfrm>
            <a:off x="687169" y="2342312"/>
            <a:ext cx="8088581" cy="1654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811" rIns="0" bIns="0" anchor="t" anchorCtr="0">
            <a:spAutoFit/>
          </a:bodyPr>
          <a:lstStyle/>
          <a:p>
            <a:pPr marL="20141" defTabSz="1450147"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Normalizes by moving the decimal point of values of attribute </a:t>
            </a:r>
            <a:r>
              <a:rPr lang="en-US" sz="1665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marR="8056" defTabSz="1450147">
              <a:lnSpc>
                <a:spcPct val="126499"/>
              </a:lnSpc>
              <a:spcBef>
                <a:spcPts val="238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number of decimal points moved depends on the maximum absolute value of </a:t>
            </a:r>
            <a:r>
              <a:rPr lang="en-US" sz="1665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 New range is </a:t>
            </a:r>
            <a:r>
              <a:rPr lang="en-US" sz="1903" kern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lang="en-US" sz="1903" i="1" kern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−</a:t>
            </a: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903" i="1" kern="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1903" kern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903" kern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252769" algn="ctr" defTabSz="1450147">
              <a:spcBef>
                <a:spcPts val="2379"/>
              </a:spcBef>
              <a:buClr>
                <a:srgbClr val="000000"/>
              </a:buClr>
              <a:buSzPts val="1050"/>
            </a:pP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7" name="Google Shape;1387;p73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8" name="Google Shape;1388;p7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70493" y="3626449"/>
            <a:ext cx="4517445" cy="1040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74"/>
          <p:cNvSpPr txBox="1"/>
          <p:nvPr/>
        </p:nvSpPr>
        <p:spPr>
          <a:xfrm>
            <a:off x="219456" y="796248"/>
            <a:ext cx="4185293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 defTabSz="1450147">
              <a:buClr>
                <a:srgbClr val="000000"/>
              </a:buClr>
              <a:buSzPts val="1700"/>
            </a:pPr>
            <a:r>
              <a:rPr lang="en-US" sz="2701" b="1" dirty="0">
                <a:latin typeface="Calibri" panose="020F0502020204030204" pitchFamily="34" charset="0"/>
                <a:ea typeface="Cambria"/>
                <a:cs typeface="Calibri" panose="020F0502020204030204" pitchFamily="34" charset="0"/>
                <a:sym typeface="Calibri"/>
              </a:rPr>
              <a:t>Decimal  Normalization</a:t>
            </a:r>
            <a:endParaRPr sz="2701" b="1" dirty="0">
              <a:latin typeface="Calibri" panose="020F0502020204030204" pitchFamily="34" charset="0"/>
              <a:ea typeface="Cambria"/>
              <a:cs typeface="Calibri" panose="020F0502020204030204" pitchFamily="34" charset="0"/>
              <a:sym typeface="Calibri"/>
            </a:endParaRPr>
          </a:p>
        </p:txBody>
      </p:sp>
      <p:graphicFrame>
        <p:nvGraphicFramePr>
          <p:cNvPr id="1394" name="Google Shape;1394;p74"/>
          <p:cNvGraphicFramePr/>
          <p:nvPr/>
        </p:nvGraphicFramePr>
        <p:xfrm>
          <a:off x="2309725" y="2082898"/>
          <a:ext cx="4506541" cy="353961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61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6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982">
                <a:tc gridSpan="3"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Example 1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7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CGPA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Formula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Normalized CGPA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97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2/10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0.2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17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3/10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0.3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982">
                <a:tc gridSpan="3"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Example 2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7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Bonus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Formula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Normalized Bonus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9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450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450/1000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0.45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17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310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310/1000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0.31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982">
                <a:tc gridSpan="3"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Example 3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78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Salary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Formula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Normalized Salary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93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48000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48000/100000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0.48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13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67000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67000/100000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0.67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396" name="Google Shape;1396;p74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140"/>
          <p:cNvSpPr txBox="1">
            <a:spLocks noGrp="1"/>
          </p:cNvSpPr>
          <p:nvPr>
            <p:ph type="title"/>
          </p:nvPr>
        </p:nvSpPr>
        <p:spPr>
          <a:xfrm>
            <a:off x="151136" y="726133"/>
            <a:ext cx="4087764" cy="44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CATEGORICAL ENCODING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440" name="Google Shape;1440;p1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154" y="2174451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1" name="Google Shape;1441;p1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528" y="2917398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40"/>
          <p:cNvSpPr/>
          <p:nvPr/>
        </p:nvSpPr>
        <p:spPr>
          <a:xfrm>
            <a:off x="608792" y="1982956"/>
            <a:ext cx="7857852" cy="1171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algn="just" defTabSz="1450147">
              <a:buClr>
                <a:srgbClr val="000000"/>
              </a:buClr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need to convert categorical columns to numeric columns so that a machine learning algorithm understands it.</a:t>
            </a:r>
            <a:endParaRPr sz="222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just" defTabSz="1450147">
              <a:buClr>
                <a:srgbClr val="000000"/>
              </a:buClr>
            </a:pP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algn="just" defTabSz="1450147">
              <a:buClr>
                <a:srgbClr val="000000"/>
              </a:buClr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Categorical encoding is a process of converting categories to numbers.</a:t>
            </a:r>
            <a:endParaRPr sz="222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445" name="Google Shape;1445;p140" descr="One hot encodi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7497" y="3378801"/>
            <a:ext cx="3046656" cy="138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6" name="Google Shape;1446;p140"/>
          <p:cNvSpPr/>
          <p:nvPr/>
        </p:nvSpPr>
        <p:spPr>
          <a:xfrm>
            <a:off x="328320" y="3339767"/>
            <a:ext cx="5193404" cy="2572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91" tIns="72476" rIns="144991" bIns="72476" anchor="t" anchorCtr="0">
            <a:spAutoFit/>
          </a:bodyPr>
          <a:lstStyle/>
          <a:p>
            <a:pPr marL="292043" marR="626383" indent="-271903" algn="just" defTabSz="1450147"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142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Binarization maps a continuous or categorical attribute into </a:t>
            </a:r>
            <a:r>
              <a:rPr lang="en-US" sz="1427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or more binary  attributes</a:t>
            </a:r>
            <a:r>
              <a:rPr lang="en-US" sz="142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427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2043" indent="-271903" algn="just" defTabSz="1450147">
              <a:spcBef>
                <a:spcPts val="761"/>
              </a:spcBef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142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Must maintain </a:t>
            </a:r>
            <a:r>
              <a:rPr lang="en-US" sz="1427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ordinal relationship</a:t>
            </a:r>
            <a:r>
              <a:rPr lang="en-US" sz="142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427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2043" marR="8056" indent="-271903" algn="just" defTabSz="1450147">
              <a:spcBef>
                <a:spcPts val="476"/>
              </a:spcBef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142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Algorithms that find association patterns require that the data be in the form of binary  attributes.</a:t>
            </a:r>
            <a:endParaRPr sz="1427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2043" indent="-271903" algn="just" defTabSz="1450147">
              <a:spcBef>
                <a:spcPts val="293"/>
              </a:spcBef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142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E.g., Apriori algorithm, Frequent Pattern (FP) Growth algorithm</a:t>
            </a:r>
            <a:endParaRPr sz="1427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defTabSz="1450147">
              <a:buClr>
                <a:srgbClr val="000000"/>
              </a:buClr>
            </a:pPr>
            <a:br>
              <a:rPr lang="en-US" sz="222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220" ker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78"/>
          <p:cNvSpPr txBox="1"/>
          <p:nvPr/>
        </p:nvSpPr>
        <p:spPr>
          <a:xfrm>
            <a:off x="219456" y="741765"/>
            <a:ext cx="5558835" cy="44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 defTabSz="1450147">
              <a:buClr>
                <a:srgbClr val="000000"/>
              </a:buClr>
              <a:buSzPts val="1600"/>
            </a:pPr>
            <a:r>
              <a:rPr lang="en-US" sz="2701" b="1" dirty="0">
                <a:latin typeface="Calibri" panose="020F0502020204030204" pitchFamily="34" charset="0"/>
                <a:ea typeface="Cambria"/>
                <a:cs typeface="Calibri" panose="020F0502020204030204" pitchFamily="34" charset="0"/>
                <a:sym typeface="Calibri"/>
              </a:rPr>
              <a:t>CATEGORICAL ENCODING Techniques</a:t>
            </a:r>
            <a:endParaRPr sz="2701" b="1" dirty="0">
              <a:latin typeface="Calibri" panose="020F0502020204030204" pitchFamily="34" charset="0"/>
              <a:ea typeface="Cambria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452" name="Google Shape;1452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925" y="2183505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3" name="Google Shape;1453;p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925" y="2505222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454" name="Google Shape;1454;p78"/>
          <p:cNvSpPr txBox="1"/>
          <p:nvPr/>
        </p:nvSpPr>
        <p:spPr>
          <a:xfrm>
            <a:off x="604703" y="1993497"/>
            <a:ext cx="3417870" cy="72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8056" defTabSz="1450147">
              <a:lnSpc>
                <a:spcPct val="138400"/>
              </a:lnSpc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One-hot encoding  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marR="8056" defTabSz="1450147">
              <a:lnSpc>
                <a:spcPct val="138400"/>
              </a:lnSpc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Label Encoding  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6" name="Google Shape;1456;p78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79"/>
          <p:cNvSpPr txBox="1">
            <a:spLocks noGrp="1"/>
          </p:cNvSpPr>
          <p:nvPr>
            <p:ph type="title"/>
          </p:nvPr>
        </p:nvSpPr>
        <p:spPr>
          <a:xfrm>
            <a:off x="219456" y="742543"/>
            <a:ext cx="3361528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One-Hot  Encoding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463" name="Google Shape;1463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147873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4" name="Google Shape;1464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745456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5" name="Google Shape;1465;p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3034035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6" name="Google Shape;1466;p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4151719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7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9537" y="5560378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79"/>
          <p:cNvSpPr txBox="1"/>
          <p:nvPr/>
        </p:nvSpPr>
        <p:spPr>
          <a:xfrm>
            <a:off x="646887" y="1994035"/>
            <a:ext cx="8243699" cy="372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60423" marR="48338" defTabSz="1450147">
              <a:lnSpc>
                <a:spcPct val="114700"/>
              </a:lnSpc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Encode each categorical variable with a set of Boolean variables which take values 0  or 1, indicating if a category is present for each observation.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0423" marR="3683776" defTabSz="1450147">
              <a:lnSpc>
                <a:spcPct val="113700"/>
              </a:lnSpc>
              <a:spcBef>
                <a:spcPts val="135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binary attribute for each categorical value. 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Advantages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396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Makes no assumption about the distribution or categories of the categorical variable 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341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Keeps all the information of the categorical variable 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341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Suitable for linear models.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0423" defTabSz="1450147">
              <a:spcBef>
                <a:spcPts val="301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Disadvantages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396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Expands the feature space.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341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Does not add extra information while encoding.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341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 dummy variables may be identical, introducing redundant information 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06142" defTabSz="1450147">
              <a:spcBef>
                <a:spcPts val="341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Number of resulting attributes may become too large.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0423" defTabSz="1450147">
              <a:spcBef>
                <a:spcPts val="444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multi-class classification, the class label is converted using one-hot encoding.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0" name="Google Shape;1470;p79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80"/>
          <p:cNvSpPr txBox="1">
            <a:spLocks noGrp="1"/>
          </p:cNvSpPr>
          <p:nvPr>
            <p:ph type="title"/>
          </p:nvPr>
        </p:nvSpPr>
        <p:spPr>
          <a:xfrm>
            <a:off x="182898" y="763168"/>
            <a:ext cx="4998989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One-Hot  Encoding  Example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477" name="Google Shape;1477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548718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478" name="Google Shape;1478;p80"/>
          <p:cNvSpPr txBox="1"/>
          <p:nvPr/>
        </p:nvSpPr>
        <p:spPr>
          <a:xfrm>
            <a:off x="687168" y="2425787"/>
            <a:ext cx="7534737" cy="9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76" rIns="0" bIns="0" anchor="t" anchorCtr="0">
            <a:spAutoFit/>
          </a:bodyPr>
          <a:lstStyle/>
          <a:p>
            <a:pPr marL="20141" defTabSz="1450147"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Assume an ordinal attribute for representing service of a restaurant: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0141" marR="8056" defTabSz="1450147">
              <a:lnSpc>
                <a:spcPct val="120000"/>
              </a:lnSpc>
              <a:spcBef>
                <a:spcPts val="127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1665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Awful </a:t>
            </a:r>
            <a:r>
              <a:rPr lang="en-US" sz="1903" i="1" ker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 </a:t>
            </a:r>
            <a:r>
              <a:rPr lang="en-US" sz="1665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Poor </a:t>
            </a:r>
            <a:r>
              <a:rPr lang="en-US" sz="1903" i="1" ker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 </a:t>
            </a:r>
            <a:r>
              <a:rPr lang="en-US" sz="1665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OK </a:t>
            </a:r>
            <a:r>
              <a:rPr lang="en-US" sz="1903" i="1" ker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 </a:t>
            </a:r>
            <a:r>
              <a:rPr lang="en-US" sz="1665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</a:t>
            </a:r>
            <a:r>
              <a:rPr lang="en-US" sz="1903" i="1" kern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 </a:t>
            </a:r>
            <a:r>
              <a:rPr lang="en-US" sz="1665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Great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requires 5 bits to maintain the ordinal  relationship.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479" name="Google Shape;1479;p80"/>
          <p:cNvGraphicFramePr/>
          <p:nvPr/>
        </p:nvGraphicFramePr>
        <p:xfrm>
          <a:off x="2682393" y="3369986"/>
          <a:ext cx="4237610" cy="17618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0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6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8982"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Service Quality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X1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X2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X3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X4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67945" lvl="0" indent="0" algn="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X5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784"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Awful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12128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113664" lvl="0" indent="0" algn="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934"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Poor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1212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113664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974"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OK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1212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113664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974"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Good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1212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113664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172"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Great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12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113664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2200" u="none" strike="noStrike" cap="none"/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80" name="Google Shape;1480;p80"/>
          <p:cNvSpPr/>
          <p:nvPr/>
        </p:nvSpPr>
        <p:spPr>
          <a:xfrm>
            <a:off x="0" y="5825855"/>
            <a:ext cx="2741186" cy="169184"/>
          </a:xfrm>
          <a:custGeom>
            <a:avLst/>
            <a:gdLst/>
            <a:ahLst/>
            <a:cxnLst/>
            <a:rect l="l" t="t" r="r" b="b"/>
            <a:pathLst>
              <a:path w="1728470" h="106680" extrusionOk="0">
                <a:moveTo>
                  <a:pt x="1728012" y="0"/>
                </a:moveTo>
                <a:lnTo>
                  <a:pt x="0" y="0"/>
                </a:lnTo>
                <a:lnTo>
                  <a:pt x="0" y="106222"/>
                </a:lnTo>
                <a:lnTo>
                  <a:pt x="1728012" y="106222"/>
                </a:lnTo>
                <a:lnTo>
                  <a:pt x="1728012" y="0"/>
                </a:lnTo>
                <a:close/>
              </a:path>
            </a:pathLst>
          </a:custGeom>
          <a:solidFill>
            <a:srgbClr val="8484D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1450147">
              <a:buClr>
                <a:srgbClr val="000000"/>
              </a:buClr>
              <a:buSzPts val="1800"/>
            </a:pPr>
            <a:endParaRPr sz="2855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80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80"/>
          <p:cNvSpPr txBox="1"/>
          <p:nvPr/>
        </p:nvSpPr>
        <p:spPr>
          <a:xfrm>
            <a:off x="3289184" y="5832015"/>
            <a:ext cx="69788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423" defTabSz="1450147">
              <a:lnSpc>
                <a:spcPct val="111666"/>
              </a:lnSpc>
              <a:buClr>
                <a:srgbClr val="000000"/>
              </a:buClr>
              <a:buSzPts val="600"/>
            </a:pPr>
            <a:fld id="{00000000-1234-1234-1234-123412341234}" type="slidenum">
              <a:rPr lang="en-US" sz="952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60423" defTabSz="1450147">
                <a:lnSpc>
                  <a:spcPct val="111666"/>
                </a:lnSpc>
                <a:buClr>
                  <a:srgbClr val="000000"/>
                </a:buClr>
                <a:buSzPts val="600"/>
              </a:pPr>
              <a:t>76</a:t>
            </a:fld>
            <a:r>
              <a:rPr lang="en-US" sz="952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/ 113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81"/>
          <p:cNvSpPr txBox="1"/>
          <p:nvPr/>
        </p:nvSpPr>
        <p:spPr>
          <a:xfrm>
            <a:off x="128276" y="766586"/>
            <a:ext cx="473630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 defTabSz="1450147">
              <a:buClr>
                <a:srgbClr val="000000"/>
              </a:buClr>
              <a:buSzPts val="1700"/>
            </a:pPr>
            <a:r>
              <a:rPr lang="en-US" sz="2701" b="1" dirty="0">
                <a:latin typeface="Calibri" panose="020F0502020204030204" pitchFamily="34" charset="0"/>
                <a:ea typeface="Cambria"/>
                <a:cs typeface="Calibri" panose="020F0502020204030204" pitchFamily="34" charset="0"/>
                <a:sym typeface="Calibri"/>
              </a:rPr>
              <a:t>One-hot  Encoding  Example</a:t>
            </a:r>
            <a:endParaRPr sz="2701" b="1" dirty="0">
              <a:latin typeface="Calibri" panose="020F0502020204030204" pitchFamily="34" charset="0"/>
              <a:ea typeface="Cambria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488" name="Google Shape;1488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5770" y="2500481"/>
            <a:ext cx="8720033" cy="2446119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81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82"/>
          <p:cNvSpPr txBox="1">
            <a:spLocks noGrp="1"/>
          </p:cNvSpPr>
          <p:nvPr>
            <p:ph type="title"/>
          </p:nvPr>
        </p:nvSpPr>
        <p:spPr>
          <a:xfrm>
            <a:off x="128277" y="780983"/>
            <a:ext cx="2845919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Label  Encoding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497" name="Google Shape;1497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180361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8" name="Google Shape;1498;p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2816936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9" name="Google Shape;1499;p8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9537" y="3144488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0" name="Google Shape;1500;p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537" y="4327147"/>
            <a:ext cx="109889" cy="1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5527890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502" name="Google Shape;1502;p82"/>
          <p:cNvSpPr txBox="1"/>
          <p:nvPr/>
        </p:nvSpPr>
        <p:spPr>
          <a:xfrm>
            <a:off x="626747" y="2004358"/>
            <a:ext cx="8170184" cy="3691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088" rIns="0" bIns="0" anchor="t" anchorCtr="0">
            <a:spAutoFit/>
          </a:bodyPr>
          <a:lstStyle/>
          <a:p>
            <a:pPr marL="80564" marR="759313" defTabSz="1450147">
              <a:lnSpc>
                <a:spcPct val="110700"/>
              </a:lnSpc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Replace the categories by digits from 1 to </a:t>
            </a:r>
            <a:r>
              <a:rPr lang="en-US" sz="1665" i="1" kern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(or 0 to </a:t>
            </a:r>
            <a:r>
              <a:rPr lang="en-US" sz="1665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1903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−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1, depending the  implementation), where </a:t>
            </a:r>
            <a:r>
              <a:rPr lang="en-US" sz="1665" i="1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the number of distinct categories of the variable.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80564" marR="453171" defTabSz="1450147">
              <a:lnSpc>
                <a:spcPct val="129099"/>
              </a:lnSpc>
              <a:spcBef>
                <a:spcPts val="143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categories are arranged in ascending order and the numbers are assigned.  Advantages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26283" defTabSz="1450147">
              <a:spcBef>
                <a:spcPts val="595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Straightforward to implement.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26283" defTabSz="1450147">
              <a:spcBef>
                <a:spcPts val="341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Does not expand the feature space.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26283" defTabSz="1450147">
              <a:spcBef>
                <a:spcPts val="341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 well enough with tree based algorithms.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80564" defTabSz="1450147">
              <a:spcBef>
                <a:spcPts val="611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Disadvantages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26283" defTabSz="1450147">
              <a:spcBef>
                <a:spcPts val="595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Does not add extra information while encoding.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26283" defTabSz="1450147">
              <a:spcBef>
                <a:spcPts val="341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suitable for linear models.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26283" defTabSz="1450147">
              <a:spcBef>
                <a:spcPts val="341"/>
              </a:spcBef>
              <a:buClr>
                <a:srgbClr val="000000"/>
              </a:buClr>
              <a:buSzPts val="900"/>
            </a:pPr>
            <a:r>
              <a:rPr lang="en-US" sz="1427" kern="0" baseline="30000">
                <a:solidFill>
                  <a:srgbClr val="3333B2"/>
                </a:solidFill>
                <a:latin typeface="Lucida Sans"/>
                <a:ea typeface="Lucida Sans"/>
                <a:cs typeface="Lucida Sans"/>
                <a:sym typeface="Lucida Sans"/>
              </a:rPr>
              <a:t>) </a:t>
            </a:r>
            <a:r>
              <a:rPr lang="en-US" sz="1507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Does not handle new categories in test set automatically.</a:t>
            </a:r>
            <a:endParaRPr sz="1507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80564" defTabSz="1450147">
              <a:spcBef>
                <a:spcPts val="753"/>
              </a:spcBef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Used for features which have multiple values into domain. eg: colour, protocol types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4" name="Google Shape;1504;p82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83"/>
          <p:cNvSpPr txBox="1">
            <a:spLocks noGrp="1"/>
          </p:cNvSpPr>
          <p:nvPr>
            <p:ph type="title"/>
          </p:nvPr>
        </p:nvSpPr>
        <p:spPr>
          <a:xfrm>
            <a:off x="95841" y="704305"/>
            <a:ext cx="4483380" cy="439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45" rIns="0" bIns="0" anchor="t" anchorCtr="0">
            <a:spAutoFit/>
          </a:bodyPr>
          <a:lstStyle/>
          <a:p>
            <a:pPr marL="20141"/>
            <a:r>
              <a:rPr lang="en-US" sz="2701" b="1" kern="1200" dirty="0">
                <a:solidFill>
                  <a:schemeClr val="tx1"/>
                </a:solidFill>
                <a:latin typeface="Calibri" panose="020F0502020204030204" pitchFamily="34" charset="0"/>
                <a:ea typeface="Cambria"/>
                <a:cs typeface="Calibri" panose="020F0502020204030204" pitchFamily="34" charset="0"/>
              </a:rPr>
              <a:t>Label  Encoding  Example</a:t>
            </a:r>
            <a:endParaRPr sz="2701" b="1" kern="1200" dirty="0">
              <a:solidFill>
                <a:schemeClr val="tx1"/>
              </a:solidFill>
              <a:latin typeface="Calibri" panose="020F0502020204030204" pitchFamily="34" charset="0"/>
              <a:ea typeface="Cambria"/>
              <a:cs typeface="Calibri" panose="020F0502020204030204" pitchFamily="34" charset="0"/>
            </a:endParaRPr>
          </a:p>
        </p:txBody>
      </p:sp>
      <p:pic>
        <p:nvPicPr>
          <p:cNvPr id="1511" name="Google Shape;1511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537" y="2552746"/>
            <a:ext cx="109889" cy="109889"/>
          </a:xfrm>
          <a:prstGeom prst="rect">
            <a:avLst/>
          </a:prstGeom>
          <a:noFill/>
          <a:ln>
            <a:noFill/>
          </a:ln>
        </p:spPr>
      </p:pic>
      <p:sp>
        <p:nvSpPr>
          <p:cNvPr id="1512" name="Google Shape;1512;p83"/>
          <p:cNvSpPr txBox="1"/>
          <p:nvPr/>
        </p:nvSpPr>
        <p:spPr>
          <a:xfrm>
            <a:off x="687170" y="2398888"/>
            <a:ext cx="8232621" cy="60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10" rIns="0" bIns="0" anchor="t" anchorCtr="0">
            <a:spAutoFit/>
          </a:bodyPr>
          <a:lstStyle/>
          <a:p>
            <a:pPr marL="20141" marR="8056" defTabSz="1450147">
              <a:lnSpc>
                <a:spcPct val="114700"/>
              </a:lnSpc>
              <a:buClr>
                <a:srgbClr val="000000"/>
              </a:buClr>
              <a:buSzPts val="1050"/>
            </a:pPr>
            <a:r>
              <a:rPr lang="en-US" sz="1665" ker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Assume an ordinal attribute for representing service of a restaurant: (Awful, Poor, OK,  Good, Great)</a:t>
            </a:r>
            <a:endParaRPr sz="1665" ker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513" name="Google Shape;1513;p83"/>
          <p:cNvGraphicFramePr/>
          <p:nvPr/>
        </p:nvGraphicFramePr>
        <p:xfrm>
          <a:off x="2953894" y="3223500"/>
          <a:ext cx="3217520" cy="17617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03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82"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Service Quality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 Value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784"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Awful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934"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Poor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934"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OK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974"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Good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172">
                <a:tc>
                  <a:txBody>
                    <a:bodyPr/>
                    <a:lstStyle/>
                    <a:p>
                      <a:pPr marL="7556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Great</a:t>
                      </a:r>
                      <a:endParaRPr sz="1700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700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2200" u="none" strike="noStrike" cap="none"/>
                    </a:p>
                  </a:txBody>
                  <a:tcPr marL="0" marR="0" marT="6026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15" name="Google Shape;1515;p83"/>
          <p:cNvSpPr txBox="1"/>
          <p:nvPr/>
        </p:nvSpPr>
        <p:spPr>
          <a:xfrm>
            <a:off x="219456" y="5832036"/>
            <a:ext cx="1902315" cy="16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141" defTabSz="1450147">
              <a:lnSpc>
                <a:spcPct val="111666"/>
              </a:lnSpc>
              <a:buClr>
                <a:srgbClr val="000000"/>
              </a:buClr>
              <a:buSzPts val="600"/>
            </a:pP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D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ata</a:t>
            </a:r>
            <a:r>
              <a:rPr lang="en-US" sz="952" u="sng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S</a:t>
            </a:r>
            <a:r>
              <a:rPr lang="en-US" sz="952" u="sng" kern="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cience</a:t>
            </a:r>
            <a:endParaRPr sz="952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0622E-F551-AB52-43A9-8ACAD3ACE00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4BBA1-19E5-6E4D-28E7-0A388FC272F6}"/>
              </a:ext>
            </a:extLst>
          </p:cNvPr>
          <p:cNvSpPr txBox="1">
            <a:spLocks/>
          </p:cNvSpPr>
          <p:nvPr/>
        </p:nvSpPr>
        <p:spPr>
          <a:xfrm>
            <a:off x="1555566" y="3181350"/>
            <a:ext cx="5576754" cy="49530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+mn-lt"/>
                <a:cs typeface="Times New Roman" panose="02020603050405020304" pitchFamily="18" charset="0"/>
              </a:rPr>
              <a:t>Example for Proximity</a:t>
            </a:r>
            <a:endParaRPr lang="en-IN" sz="3600" b="1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07664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17C04-9E42-4937-9164-D46AEB051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cs typeface="Times New Roman" panose="02020603050405020304" pitchFamily="18" charset="0"/>
              </a:rPr>
              <a:t>Example</a:t>
            </a:r>
            <a:endParaRPr lang="en-IN" sz="3600" b="1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AD0ED-36AF-4B4C-8B77-052E4C088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702" y="1525227"/>
            <a:ext cx="78867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cs typeface="Times New Roman" panose="02020603050405020304" pitchFamily="18" charset="0"/>
              </a:rPr>
              <a:t>Based on the information given in the table below, find most similar and most dissimilar persons among them. Apply min-max normalization on income to obtain [0,1] range. Consider profession and mother tongue as nominal. Consider native place as ordinal variable with ranking order of [Village, Small Town, Suburban, Metropolitan]. Give equal weight to each attribute.</a:t>
            </a:r>
            <a:endParaRPr lang="en-IN" sz="2000" dirty="0"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IN" sz="1800" dirty="0"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A134A3-5DF6-432E-BFD2-D8E01180A5C9}"/>
              </a:ext>
            </a:extLst>
          </p:cNvPr>
          <p:cNvGraphicFramePr>
            <a:graphicFrameLocks noGrp="1"/>
          </p:cNvGraphicFramePr>
          <p:nvPr/>
        </p:nvGraphicFramePr>
        <p:xfrm>
          <a:off x="1567519" y="3789838"/>
          <a:ext cx="6008962" cy="16862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6512">
                  <a:extLst>
                    <a:ext uri="{9D8B030D-6E8A-4147-A177-3AD203B41FA5}">
                      <a16:colId xmlns:a16="http://schemas.microsoft.com/office/drawing/2014/main" val="3836640505"/>
                    </a:ext>
                  </a:extLst>
                </a:gridCol>
                <a:gridCol w="907839">
                  <a:extLst>
                    <a:ext uri="{9D8B030D-6E8A-4147-A177-3AD203B41FA5}">
                      <a16:colId xmlns:a16="http://schemas.microsoft.com/office/drawing/2014/main" val="2561429889"/>
                    </a:ext>
                  </a:extLst>
                </a:gridCol>
                <a:gridCol w="1135727">
                  <a:extLst>
                    <a:ext uri="{9D8B030D-6E8A-4147-A177-3AD203B41FA5}">
                      <a16:colId xmlns:a16="http://schemas.microsoft.com/office/drawing/2014/main" val="3883004127"/>
                    </a:ext>
                  </a:extLst>
                </a:gridCol>
                <a:gridCol w="1202535">
                  <a:extLst>
                    <a:ext uri="{9D8B030D-6E8A-4147-A177-3AD203B41FA5}">
                      <a16:colId xmlns:a16="http://schemas.microsoft.com/office/drawing/2014/main" val="2699022826"/>
                    </a:ext>
                  </a:extLst>
                </a:gridCol>
                <a:gridCol w="1606349">
                  <a:extLst>
                    <a:ext uri="{9D8B030D-6E8A-4147-A177-3AD203B41FA5}">
                      <a16:colId xmlns:a16="http://schemas.microsoft.com/office/drawing/2014/main" val="1057411333"/>
                    </a:ext>
                  </a:extLst>
                </a:gridCol>
              </a:tblGrid>
              <a:tr h="30994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Name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Income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Profession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Mother tongue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Native Place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305461"/>
                  </a:ext>
                </a:extLst>
              </a:tr>
              <a:tr h="30994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Ram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70000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Doctor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Bengali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Village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8752178"/>
                  </a:ext>
                </a:extLst>
              </a:tr>
              <a:tr h="30994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Balram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50000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Data Scientist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Hindi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Small Town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7004585"/>
                  </a:ext>
                </a:extLst>
              </a:tr>
              <a:tr h="30994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Bharat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60000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Carpenter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Hindi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Suburban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0786227"/>
                  </a:ext>
                </a:extLst>
              </a:tr>
              <a:tr h="30994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Kishan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80000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Doctor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Bhojpuri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Metropolitan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6246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21650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17C04-9E42-4937-9164-D46AEB051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cs typeface="Times New Roman" panose="02020603050405020304" pitchFamily="18" charset="0"/>
              </a:rPr>
              <a:t>Solution</a:t>
            </a:r>
            <a:endParaRPr lang="en-IN" sz="3600" b="1" dirty="0"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9755A26-E76E-41EA-8CF7-F5B988F19DB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55068" y="1948733"/>
          <a:ext cx="5877301" cy="17044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31172">
                  <a:extLst>
                    <a:ext uri="{9D8B030D-6E8A-4147-A177-3AD203B41FA5}">
                      <a16:colId xmlns:a16="http://schemas.microsoft.com/office/drawing/2014/main" val="2603509844"/>
                    </a:ext>
                  </a:extLst>
                </a:gridCol>
                <a:gridCol w="802780">
                  <a:extLst>
                    <a:ext uri="{9D8B030D-6E8A-4147-A177-3AD203B41FA5}">
                      <a16:colId xmlns:a16="http://schemas.microsoft.com/office/drawing/2014/main" val="1177106146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1733210678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804155753"/>
                    </a:ext>
                  </a:extLst>
                </a:gridCol>
                <a:gridCol w="1234439">
                  <a:extLst>
                    <a:ext uri="{9D8B030D-6E8A-4147-A177-3AD203B41FA5}">
                      <a16:colId xmlns:a16="http://schemas.microsoft.com/office/drawing/2014/main" val="1195929603"/>
                    </a:ext>
                  </a:extLst>
                </a:gridCol>
              </a:tblGrid>
              <a:tr h="3408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Name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Income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Profession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Mother tongue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Native Place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2071919"/>
                  </a:ext>
                </a:extLst>
              </a:tr>
              <a:tr h="3408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Ram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0.67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Doctor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Bengali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1460792"/>
                  </a:ext>
                </a:extLst>
              </a:tr>
              <a:tr h="3408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Balram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Data Scientist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Hindi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6645081"/>
                  </a:ext>
                </a:extLst>
              </a:tr>
              <a:tr h="3408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Bharat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0.33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Carpenter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Hindi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4249619"/>
                  </a:ext>
                </a:extLst>
              </a:tr>
              <a:tr h="3408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Kishan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Doctor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Bhojpuri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4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322528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7706F34-DF0D-4AEB-A814-0B57AB947CBE}"/>
              </a:ext>
            </a:extLst>
          </p:cNvPr>
          <p:cNvSpPr/>
          <p:nvPr/>
        </p:nvSpPr>
        <p:spPr>
          <a:xfrm>
            <a:off x="379520" y="1458500"/>
            <a:ext cx="8384960" cy="4878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After normalizing income and quantifying native place, we get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d(Ram, Balram) = 0.67+1+1+(2-1)/(4-1)=3      d(Ram, Bharat) = 0.33+1+1+(3-1)/(4-1)=3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d(Ram,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Kishan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) = 0.33+0+1+(4-1)/(4-1) = 2.33  d(Balram, Bharat) = 0.33+1+0+(3-2)/(4-1)=1.67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d(Balram,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Kishan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) = 1+1+1+(4-2)/(4-1) = 3.67  d(Bharat,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Kishan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) = 0.67+1+1+(4-3)/(4-1) = 3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 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Most similar – Balram and Bharat;    Most dissimilar – Balram and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Kishan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52373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2D74B-F31E-C900-75CE-8BADD006A99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83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52F70C-7453-C610-F0FF-61F44FE08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542362"/>
              </p:ext>
            </p:extLst>
          </p:nvPr>
        </p:nvGraphicFramePr>
        <p:xfrm>
          <a:off x="628650" y="1956559"/>
          <a:ext cx="7886699" cy="276099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97480">
                  <a:extLst>
                    <a:ext uri="{9D8B030D-6E8A-4147-A177-3AD203B41FA5}">
                      <a16:colId xmlns:a16="http://schemas.microsoft.com/office/drawing/2014/main" val="2461795303"/>
                    </a:ext>
                  </a:extLst>
                </a:gridCol>
                <a:gridCol w="6989219">
                  <a:extLst>
                    <a:ext uri="{9D8B030D-6E8A-4147-A177-3AD203B41FA5}">
                      <a16:colId xmlns:a16="http://schemas.microsoft.com/office/drawing/2014/main" val="2556386064"/>
                    </a:ext>
                  </a:extLst>
                </a:gridCol>
              </a:tblGrid>
              <a:tr h="5435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US" sz="2000">
                          <a:effectLst/>
                        </a:rPr>
                        <a:t>T1</a:t>
                      </a:r>
                      <a:endParaRPr lang="en-IN" sz="2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" marR="34925" marT="34925" marB="34925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</a:rPr>
                        <a:t>Introduction to Data Mining, by Tan, Steinbach and Vipin Kumar</a:t>
                      </a:r>
                      <a:endParaRPr lang="en-IN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" marR="34925" marT="34925" marB="34925"/>
                </a:tc>
                <a:extLst>
                  <a:ext uri="{0D108BD9-81ED-4DB2-BD59-A6C34878D82A}">
                    <a16:rowId xmlns:a16="http://schemas.microsoft.com/office/drawing/2014/main" val="662252552"/>
                  </a:ext>
                </a:extLst>
              </a:tr>
              <a:tr h="3876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US" sz="2000">
                          <a:effectLst/>
                        </a:rPr>
                        <a:t>T2</a:t>
                      </a:r>
                      <a:endParaRPr lang="en-IN" sz="2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" marR="34925" marT="34925" marB="34925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</a:rPr>
                        <a:t>Introducing Data Science by </a:t>
                      </a:r>
                      <a:r>
                        <a:rPr lang="en-IN" sz="2000" dirty="0" err="1">
                          <a:effectLst/>
                        </a:rPr>
                        <a:t>Cielen</a:t>
                      </a:r>
                      <a:r>
                        <a:rPr lang="en-IN" sz="2000" dirty="0">
                          <a:effectLst/>
                        </a:rPr>
                        <a:t>, </a:t>
                      </a:r>
                      <a:r>
                        <a:rPr lang="en-IN" sz="2000" dirty="0" err="1">
                          <a:effectLst/>
                        </a:rPr>
                        <a:t>Meysman</a:t>
                      </a:r>
                      <a:r>
                        <a:rPr lang="en-IN" sz="2000" dirty="0">
                          <a:effectLst/>
                        </a:rPr>
                        <a:t> and Ali</a:t>
                      </a:r>
                      <a:endParaRPr lang="en-IN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" marR="34925" marT="34925" marB="34925"/>
                </a:tc>
                <a:extLst>
                  <a:ext uri="{0D108BD9-81ED-4DB2-BD59-A6C34878D82A}">
                    <a16:rowId xmlns:a16="http://schemas.microsoft.com/office/drawing/2014/main" val="1664564859"/>
                  </a:ext>
                </a:extLst>
              </a:tr>
              <a:tr h="7274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IN" sz="2000">
                          <a:effectLst/>
                        </a:rPr>
                        <a:t>T3</a:t>
                      </a:r>
                      <a:endParaRPr lang="en-IN" sz="2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" marR="34925" marT="34925" marB="34925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</a:rPr>
                        <a:t>Storytelling with Data, A data visualization guide for business professionals, by Cole </a:t>
                      </a:r>
                      <a:r>
                        <a:rPr lang="en-IN" sz="2000" dirty="0" err="1">
                          <a:effectLst/>
                        </a:rPr>
                        <a:t>Nussbaumer</a:t>
                      </a:r>
                      <a:r>
                        <a:rPr lang="en-IN" sz="2000" dirty="0">
                          <a:effectLst/>
                        </a:rPr>
                        <a:t> </a:t>
                      </a:r>
                      <a:r>
                        <a:rPr lang="en-IN" sz="2000" dirty="0" err="1">
                          <a:effectLst/>
                        </a:rPr>
                        <a:t>Knaflic</a:t>
                      </a:r>
                      <a:r>
                        <a:rPr lang="en-IN" sz="2000" dirty="0">
                          <a:effectLst/>
                        </a:rPr>
                        <a:t>; Wiley</a:t>
                      </a:r>
                      <a:endParaRPr lang="en-IN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" marR="34925" marT="34925" marB="34925"/>
                </a:tc>
                <a:extLst>
                  <a:ext uri="{0D108BD9-81ED-4DB2-BD59-A6C34878D82A}">
                    <a16:rowId xmlns:a16="http://schemas.microsoft.com/office/drawing/2014/main" val="3056055397"/>
                  </a:ext>
                </a:extLst>
              </a:tr>
              <a:tr h="10673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300"/>
                        </a:spcAft>
                      </a:pPr>
                      <a:r>
                        <a:rPr lang="en-IN" sz="2000">
                          <a:effectLst/>
                        </a:rPr>
                        <a:t>T4</a:t>
                      </a:r>
                      <a:endParaRPr lang="en-IN" sz="20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" marR="34925" marT="34925" marB="34925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</a:rPr>
                        <a:t>Data Mining: Concepts and Techniques, Third Edition by Jiawei Han and Micheline </a:t>
                      </a:r>
                      <a:r>
                        <a:rPr lang="en-IN" sz="2000" dirty="0" err="1">
                          <a:effectLst/>
                        </a:rPr>
                        <a:t>Kamber</a:t>
                      </a:r>
                      <a:r>
                        <a:rPr lang="en-IN" sz="2000" dirty="0">
                          <a:effectLst/>
                        </a:rPr>
                        <a:t> Morgan Kaufmann Publishers</a:t>
                      </a:r>
                      <a:endParaRPr lang="en-IN" sz="2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" marR="34925" marT="34925" marB="34925"/>
                </a:tc>
                <a:extLst>
                  <a:ext uri="{0D108BD9-81ED-4DB2-BD59-A6C34878D82A}">
                    <a16:rowId xmlns:a16="http://schemas.microsoft.com/office/drawing/2014/main" val="1165109957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8F7B508B-C91F-8FFB-8823-01ADFA0F8B9D}"/>
              </a:ext>
            </a:extLst>
          </p:cNvPr>
          <p:cNvSpPr txBox="1">
            <a:spLocks noChangeArrowheads="1"/>
          </p:cNvSpPr>
          <p:nvPr/>
        </p:nvSpPr>
        <p:spPr>
          <a:xfrm>
            <a:off x="88777" y="469362"/>
            <a:ext cx="7886700" cy="737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+mn-lt"/>
                <a:cs typeface="Times New Roman" panose="02020603050405020304" pitchFamily="18" charset="0"/>
              </a:rPr>
              <a:t>Text Books</a:t>
            </a:r>
          </a:p>
        </p:txBody>
      </p:sp>
    </p:spTree>
    <p:extLst>
      <p:ext uri="{BB962C8B-B14F-4D97-AF65-F5344CB8AC3E}">
        <p14:creationId xmlns:p14="http://schemas.microsoft.com/office/powerpoint/2010/main" val="129851491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26740DE-8293-487D-9531-1FF883CE0649}" type="slidenum">
              <a:rPr lang="en-US" smtClean="0"/>
              <a:t>84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59075"/>
            <a:ext cx="7886700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509168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15953</TotalTime>
  <Words>3655</Words>
  <Application>Microsoft Office PowerPoint</Application>
  <PresentationFormat>On-screen Show (4:3)</PresentationFormat>
  <Paragraphs>588</Paragraphs>
  <Slides>84</Slides>
  <Notes>69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9" baseType="lpstr">
      <vt:lpstr>Arial</vt:lpstr>
      <vt:lpstr>Calibri</vt:lpstr>
      <vt:lpstr>Calibri Light</vt:lpstr>
      <vt:lpstr>Cambria</vt:lpstr>
      <vt:lpstr>Helvetica Neue</vt:lpstr>
      <vt:lpstr>Lucida Sans</vt:lpstr>
      <vt:lpstr>Tahoma</vt:lpstr>
      <vt:lpstr>Times New Roman</vt:lpstr>
      <vt:lpstr>Verdana</vt:lpstr>
      <vt:lpstr>Wingdings</vt:lpstr>
      <vt:lpstr>Office Theme</vt:lpstr>
      <vt:lpstr>1_Office Theme</vt:lpstr>
      <vt:lpstr>2_Office Theme</vt:lpstr>
      <vt:lpstr>3_Office Theme</vt:lpstr>
      <vt:lpstr>Equation</vt:lpstr>
      <vt:lpstr>Introduction to Data Science Data Wrangling (Contd.)</vt:lpstr>
      <vt:lpstr>PowerPoint Presentation</vt:lpstr>
      <vt:lpstr>Data Similarity/Dissimilarity</vt:lpstr>
      <vt:lpstr>PowerPoint Presentation</vt:lpstr>
      <vt:lpstr>Similarity and Dissimilarity</vt:lpstr>
      <vt:lpstr>Data Matrix and Dissimilarity Matrix</vt:lpstr>
      <vt:lpstr>PowerPoint Presentation</vt:lpstr>
      <vt:lpstr>PowerPoint Presentation</vt:lpstr>
      <vt:lpstr>Proximity Measure for Nominal Attributes</vt:lpstr>
      <vt:lpstr>Ordinal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Ordinal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Jaccard Distance/Similarity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Attributes of Mixed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Cosine Similarity</vt:lpstr>
      <vt:lpstr> Example: Cosine Similarity</vt:lpstr>
      <vt:lpstr>PowerPoint Presentation</vt:lpstr>
      <vt:lpstr>PowerPoint Presentation</vt:lpstr>
      <vt:lpstr>PowerPoint Presentation</vt:lpstr>
      <vt:lpstr>Discretization</vt:lpstr>
      <vt:lpstr>PowerPoint Presentation</vt:lpstr>
      <vt:lpstr>Discretization  Techniques</vt:lpstr>
      <vt:lpstr>Discretization  Techniques</vt:lpstr>
      <vt:lpstr>Unsupervised  Discretization</vt:lpstr>
      <vt:lpstr>Discretization  by  Binning  Methods</vt:lpstr>
      <vt:lpstr>PowerPoint Presentation</vt:lpstr>
      <vt:lpstr>PowerPoint Presentation</vt:lpstr>
      <vt:lpstr>Discretization  by  Histogram  Analysis</vt:lpstr>
      <vt:lpstr>Discretization  by  Histogram  Analysis</vt:lpstr>
      <vt:lpstr>Variable  Transformation</vt:lpstr>
      <vt:lpstr>Simple  Functional  Transformation</vt:lpstr>
      <vt:lpstr>Simple  Functional  Transformation</vt:lpstr>
      <vt:lpstr>Normalization</vt:lpstr>
      <vt:lpstr>Why  Feature  Scaling?</vt:lpstr>
      <vt:lpstr>Why  Feature  Scaling?</vt:lpstr>
      <vt:lpstr>Algorithms  Sensitive  to  Feature  Magnitude</vt:lpstr>
      <vt:lpstr>Normalization</vt:lpstr>
      <vt:lpstr>Min-Max  Scaling</vt:lpstr>
      <vt:lpstr>Min-Max  Normalization</vt:lpstr>
      <vt:lpstr>z-score  Normalization</vt:lpstr>
      <vt:lpstr>z-score  Normalization</vt:lpstr>
      <vt:lpstr>Decimal  Normalization</vt:lpstr>
      <vt:lpstr>PowerPoint Presentation</vt:lpstr>
      <vt:lpstr>CATEGORICAL ENCODING</vt:lpstr>
      <vt:lpstr>PowerPoint Presentation</vt:lpstr>
      <vt:lpstr>One-Hot  Encoding</vt:lpstr>
      <vt:lpstr>One-Hot  Encoding  Example</vt:lpstr>
      <vt:lpstr>PowerPoint Presentation</vt:lpstr>
      <vt:lpstr>Label  Encoding</vt:lpstr>
      <vt:lpstr>Label  Encoding  Example</vt:lpstr>
      <vt:lpstr>PowerPoint Presentation</vt:lpstr>
      <vt:lpstr>Example</vt:lpstr>
      <vt:lpstr>Solution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</dc:title>
  <dc:creator>T V Rao</dc:creator>
  <cp:lastModifiedBy>T V Rao</cp:lastModifiedBy>
  <cp:revision>128</cp:revision>
  <cp:lastPrinted>2020-04-24T15:32:34Z</cp:lastPrinted>
  <dcterms:created xsi:type="dcterms:W3CDTF">2016-08-27T05:22:31Z</dcterms:created>
  <dcterms:modified xsi:type="dcterms:W3CDTF">2023-12-14T17:51:17Z</dcterms:modified>
</cp:coreProperties>
</file>